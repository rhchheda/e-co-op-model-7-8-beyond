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3" r:id="rId8"/>
    <p:sldId id="264" r:id="rId9"/>
    <p:sldId id="265" r:id="rId10"/>
    <p:sldId id="266" r:id="rId11"/>
    <p:sldId id="267"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75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4181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9692640" y="-1645920"/>
            <a:ext cx="4572000" cy="4572000"/>
          </a:xfrm>
          <a:prstGeom prst="ellipse">
            <a:avLst/>
          </a:prstGeom>
          <a:solidFill>
            <a:srgbClr val="028090">
              <a:alpha val="25000"/>
            </a:srgbClr>
          </a:solidFill>
          <a:ln/>
        </p:spPr>
      </p:sp>
      <p:sp>
        <p:nvSpPr>
          <p:cNvPr id="3" name="Shape 1"/>
          <p:cNvSpPr/>
          <p:nvPr/>
        </p:nvSpPr>
        <p:spPr>
          <a:xfrm>
            <a:off x="-1371600" y="4389120"/>
            <a:ext cx="3657600" cy="3657600"/>
          </a:xfrm>
          <a:prstGeom prst="ellipse">
            <a:avLst/>
          </a:prstGeom>
          <a:solidFill>
            <a:srgbClr val="00A896">
              <a:alpha val="20000"/>
            </a:srgbClr>
          </a:solidFill>
          <a:ln/>
        </p:spPr>
      </p:sp>
      <p:sp>
        <p:nvSpPr>
          <p:cNvPr id="4" name="Shape 2"/>
          <p:cNvSpPr/>
          <p:nvPr/>
        </p:nvSpPr>
        <p:spPr>
          <a:xfrm>
            <a:off x="5440680" y="1051560"/>
            <a:ext cx="1280160" cy="1280160"/>
          </a:xfrm>
          <a:prstGeom prst="ellipse">
            <a:avLst/>
          </a:prstGeom>
          <a:solidFill>
            <a:srgbClr val="028090"/>
          </a:solidFill>
          <a:ln/>
        </p:spPr>
      </p:sp>
      <p:pic>
        <p:nvPicPr>
          <p:cNvPr id="5" name="Image 0" descr="preencoded.png"/>
          <p:cNvPicPr>
            <a:picLocks noChangeAspect="1"/>
          </p:cNvPicPr>
          <p:nvPr/>
        </p:nvPicPr>
        <p:blipFill>
          <a:blip r:embed="rId3"/>
          <a:stretch>
            <a:fillRect/>
          </a:stretch>
        </p:blipFill>
        <p:spPr>
          <a:xfrm>
            <a:off x="5747918" y="1358798"/>
            <a:ext cx="665683" cy="665683"/>
          </a:xfrm>
          <a:prstGeom prst="rect">
            <a:avLst/>
          </a:prstGeom>
        </p:spPr>
      </p:pic>
      <p:sp>
        <p:nvSpPr>
          <p:cNvPr id="6" name="Text 3"/>
          <p:cNvSpPr/>
          <p:nvPr/>
        </p:nvSpPr>
        <p:spPr>
          <a:xfrm>
            <a:off x="731520" y="2606040"/>
            <a:ext cx="10698480" cy="1005840"/>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Customer Insight Survey</a:t>
            </a:r>
            <a:endParaRPr lang="en-US" sz="4400" dirty="0"/>
          </a:p>
        </p:txBody>
      </p:sp>
      <p:sp>
        <p:nvSpPr>
          <p:cNvPr id="7" name="Text 4"/>
          <p:cNvSpPr/>
          <p:nvPr/>
        </p:nvSpPr>
        <p:spPr>
          <a:xfrm>
            <a:off x="1371600" y="3611880"/>
            <a:ext cx="9418320" cy="548640"/>
          </a:xfrm>
          <a:prstGeom prst="rect">
            <a:avLst/>
          </a:prstGeom>
          <a:noFill/>
          <a:ln/>
        </p:spPr>
        <p:txBody>
          <a:bodyPr wrap="square" lIns="0" tIns="0" rIns="0" bIns="0" rtlCol="0" anchor="ctr"/>
          <a:lstStyle/>
          <a:p>
            <a:pPr marL="0" indent="0" algn="ctr">
              <a:buNone/>
            </a:pPr>
            <a:r>
              <a:rPr lang="en-US" sz="2000" i="1" dirty="0">
                <a:solidFill>
                  <a:srgbClr val="BFD9D6"/>
                </a:solidFill>
                <a:latin typeface="Calibri" pitchFamily="34" charset="0"/>
                <a:ea typeface="Calibri" pitchFamily="34" charset="-122"/>
                <a:cs typeface="Calibri" pitchFamily="34" charset="-120"/>
              </a:rPr>
              <a:t>Understanding Customers to Improve Engineering Products</a:t>
            </a:r>
          </a:p>
          <a:p>
            <a:pPr marL="0" indent="0" algn="ctr">
              <a:buNone/>
            </a:pPr>
            <a:r>
              <a:rPr lang="en-US" sz="2000" i="1" dirty="0">
                <a:solidFill>
                  <a:srgbClr val="BFD9D6"/>
                </a:solidFill>
                <a:latin typeface="Calibri" pitchFamily="34" charset="0"/>
                <a:ea typeface="Calibri" pitchFamily="34" charset="-122"/>
                <a:cs typeface="Calibri" pitchFamily="34" charset="-120"/>
              </a:rPr>
              <a:t>CSHINE, KLE Technological University</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73152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Why Should Engineers Talk to Customers?</a:t>
            </a:r>
            <a:endParaRPr lang="en-US" sz="3200" dirty="0"/>
          </a:p>
        </p:txBody>
      </p:sp>
      <p:sp>
        <p:nvSpPr>
          <p:cNvPr id="3" name="Shape 1"/>
          <p:cNvSpPr/>
          <p:nvPr/>
        </p:nvSpPr>
        <p:spPr>
          <a:xfrm>
            <a:off x="548640" y="1417320"/>
            <a:ext cx="6400800" cy="4206240"/>
          </a:xfrm>
          <a:prstGeom prst="roundRect">
            <a:avLst>
              <a:gd name="adj" fmla="val 1739"/>
            </a:avLst>
          </a:prstGeom>
          <a:solidFill>
            <a:srgbClr val="F4F7F6"/>
          </a:solidFill>
          <a:ln/>
        </p:spPr>
      </p:sp>
      <p:sp>
        <p:nvSpPr>
          <p:cNvPr id="4" name="Text 2"/>
          <p:cNvSpPr/>
          <p:nvPr/>
        </p:nvSpPr>
        <p:spPr>
          <a:xfrm>
            <a:off x="868680" y="1783080"/>
            <a:ext cx="5760720" cy="3657600"/>
          </a:xfrm>
          <a:prstGeom prst="rect">
            <a:avLst/>
          </a:prstGeom>
          <a:noFill/>
          <a:ln/>
        </p:spPr>
        <p:txBody>
          <a:bodyPr wrap="square" lIns="0" tIns="0" rIns="0" bIns="0" rtlCol="0" anchor="t"/>
          <a:lstStyle/>
          <a:p>
            <a:pPr marL="342900" indent="-342900">
              <a:spcAft>
                <a:spcPts val="1600"/>
              </a:spcAft>
              <a:buSzPct val="100000"/>
              <a:buChar char="•"/>
            </a:pPr>
            <a:r>
              <a:rPr lang="en-US" sz="1600" dirty="0">
                <a:solidFill>
                  <a:srgbClr val="1B2A4A"/>
                </a:solidFill>
                <a:latin typeface="Calibri" pitchFamily="34" charset="0"/>
                <a:ea typeface="Calibri" pitchFamily="34" charset="-122"/>
                <a:cs typeface="Calibri" pitchFamily="34" charset="-120"/>
              </a:rPr>
              <a:t>Engineering projects are often based on observations, technical knowledge, or assumptions about user needs</a:t>
            </a:r>
            <a:endParaRPr lang="en-US" sz="1600" dirty="0"/>
          </a:p>
          <a:p>
            <a:pPr marL="342900" indent="-342900">
              <a:spcAft>
                <a:spcPts val="1600"/>
              </a:spcAft>
              <a:buSzPct val="100000"/>
              <a:buChar char="•"/>
            </a:pPr>
            <a:r>
              <a:rPr lang="en-US" sz="1600" dirty="0">
                <a:solidFill>
                  <a:srgbClr val="1B2A4A"/>
                </a:solidFill>
                <a:latin typeface="Calibri" pitchFamily="34" charset="0"/>
                <a:ea typeface="Calibri" pitchFamily="34" charset="-122"/>
                <a:cs typeface="Calibri" pitchFamily="34" charset="-120"/>
              </a:rPr>
              <a:t>These assumptions help initiate development, but may not fully reflect real user experiences</a:t>
            </a:r>
            <a:endParaRPr lang="en-US" sz="1600" dirty="0"/>
          </a:p>
          <a:p>
            <a:pPr marL="342900" indent="-342900">
              <a:spcAft>
                <a:spcPts val="1600"/>
              </a:spcAft>
              <a:buSzPct val="100000"/>
              <a:buChar char="•"/>
            </a:pPr>
            <a:r>
              <a:rPr lang="en-US" sz="1600" dirty="0">
                <a:solidFill>
                  <a:srgbClr val="1B2A4A"/>
                </a:solidFill>
                <a:latin typeface="Calibri" pitchFamily="34" charset="0"/>
                <a:ea typeface="Calibri" pitchFamily="34" charset="-122"/>
                <a:cs typeface="Calibri" pitchFamily="34" charset="-120"/>
              </a:rPr>
              <a:t>Talking to potential customers reveals how the problem is experienced in real life</a:t>
            </a:r>
            <a:endParaRPr lang="en-US" sz="1600" dirty="0"/>
          </a:p>
          <a:p>
            <a:pPr marL="342900" indent="-342900">
              <a:buSzPct val="100000"/>
              <a:buChar char="•"/>
            </a:pPr>
            <a:r>
              <a:rPr lang="en-US" sz="1600" dirty="0">
                <a:solidFill>
                  <a:srgbClr val="1B2A4A"/>
                </a:solidFill>
                <a:latin typeface="Calibri" pitchFamily="34" charset="0"/>
                <a:ea typeface="Calibri" pitchFamily="34" charset="-122"/>
                <a:cs typeface="Calibri" pitchFamily="34" charset="-120"/>
              </a:rPr>
              <a:t>It also shows whether the proposed solution is practical and useful</a:t>
            </a:r>
            <a:endParaRPr lang="en-US" sz="1600" dirty="0"/>
          </a:p>
        </p:txBody>
      </p:sp>
      <p:sp>
        <p:nvSpPr>
          <p:cNvPr id="5" name="Shape 3"/>
          <p:cNvSpPr/>
          <p:nvPr/>
        </p:nvSpPr>
        <p:spPr>
          <a:xfrm>
            <a:off x="7315200" y="1417320"/>
            <a:ext cx="4023360" cy="4206240"/>
          </a:xfrm>
          <a:prstGeom prst="roundRect">
            <a:avLst>
              <a:gd name="adj" fmla="val 1818"/>
            </a:avLst>
          </a:prstGeom>
          <a:solidFill>
            <a:srgbClr val="1B2A4A"/>
          </a:solidFill>
          <a:ln/>
          <a:effectLst>
            <a:outerShdw blurRad="101600" dist="38100" dir="2700000" algn="bl" rotWithShape="0">
              <a:srgbClr val="000000">
                <a:alpha val="12000"/>
              </a:srgbClr>
            </a:outerShdw>
          </a:effectLst>
        </p:spPr>
      </p:sp>
      <p:sp>
        <p:nvSpPr>
          <p:cNvPr id="6" name="Shape 4"/>
          <p:cNvSpPr/>
          <p:nvPr/>
        </p:nvSpPr>
        <p:spPr>
          <a:xfrm>
            <a:off x="7726680" y="1828800"/>
            <a:ext cx="777240" cy="777240"/>
          </a:xfrm>
          <a:prstGeom prst="ellipse">
            <a:avLst/>
          </a:prstGeom>
          <a:solidFill>
            <a:srgbClr val="028090"/>
          </a:solidFill>
          <a:ln/>
        </p:spPr>
      </p:sp>
      <p:pic>
        <p:nvPicPr>
          <p:cNvPr id="7" name="Image 0" descr="preencoded.png"/>
          <p:cNvPicPr>
            <a:picLocks noChangeAspect="1"/>
          </p:cNvPicPr>
          <p:nvPr/>
        </p:nvPicPr>
        <p:blipFill>
          <a:blip r:embed="rId3"/>
          <a:stretch>
            <a:fillRect/>
          </a:stretch>
        </p:blipFill>
        <p:spPr>
          <a:xfrm>
            <a:off x="7913218" y="2015338"/>
            <a:ext cx="404165" cy="404165"/>
          </a:xfrm>
          <a:prstGeom prst="rect">
            <a:avLst/>
          </a:prstGeom>
        </p:spPr>
      </p:pic>
      <p:pic>
        <p:nvPicPr>
          <p:cNvPr id="8" name="Image 1" descr="preencoded.png"/>
          <p:cNvPicPr>
            <a:picLocks noChangeAspect="1"/>
          </p:cNvPicPr>
          <p:nvPr/>
        </p:nvPicPr>
        <p:blipFill>
          <a:blip r:embed="rId4"/>
          <a:stretch>
            <a:fillRect/>
          </a:stretch>
        </p:blipFill>
        <p:spPr>
          <a:xfrm>
            <a:off x="7909560" y="2011680"/>
            <a:ext cx="411480" cy="411480"/>
          </a:xfrm>
          <a:prstGeom prst="rect">
            <a:avLst/>
          </a:prstGeom>
        </p:spPr>
      </p:pic>
      <p:sp>
        <p:nvSpPr>
          <p:cNvPr id="9" name="Text 5"/>
          <p:cNvSpPr/>
          <p:nvPr/>
        </p:nvSpPr>
        <p:spPr>
          <a:xfrm>
            <a:off x="7726680" y="2743200"/>
            <a:ext cx="3200400" cy="365760"/>
          </a:xfrm>
          <a:prstGeom prst="rect">
            <a:avLst/>
          </a:prstGeom>
          <a:noFill/>
          <a:ln/>
        </p:spPr>
        <p:txBody>
          <a:bodyPr wrap="square" lIns="0" tIns="0" rIns="0" bIns="0" rtlCol="0" anchor="ctr"/>
          <a:lstStyle/>
          <a:p>
            <a:pPr marL="0" indent="0">
              <a:buNone/>
            </a:pPr>
            <a:r>
              <a:rPr lang="en-US" sz="1400" b="1" dirty="0">
                <a:solidFill>
                  <a:srgbClr val="00A896"/>
                </a:solidFill>
                <a:latin typeface="Calibri" pitchFamily="34" charset="0"/>
                <a:ea typeface="Calibri" pitchFamily="34" charset="-122"/>
                <a:cs typeface="Calibri" pitchFamily="34" charset="-120"/>
              </a:rPr>
              <a:t>Key Message</a:t>
            </a:r>
            <a:endParaRPr lang="en-US" sz="1400" dirty="0"/>
          </a:p>
        </p:txBody>
      </p:sp>
      <p:sp>
        <p:nvSpPr>
          <p:cNvPr id="10" name="Text 6"/>
          <p:cNvSpPr/>
          <p:nvPr/>
        </p:nvSpPr>
        <p:spPr>
          <a:xfrm>
            <a:off x="7726680" y="3154680"/>
            <a:ext cx="3291840" cy="2194560"/>
          </a:xfrm>
          <a:prstGeom prst="rect">
            <a:avLst/>
          </a:prstGeom>
          <a:noFill/>
          <a:ln/>
        </p:spPr>
        <p:txBody>
          <a:bodyPr wrap="square" lIns="0" tIns="0" rIns="0" bIns="0" rtlCol="0" anchor="t"/>
          <a:lstStyle/>
          <a:p>
            <a:pPr marL="0" indent="0">
              <a:buNone/>
            </a:pPr>
            <a:r>
              <a:rPr lang="en-US" sz="1600" i="1" dirty="0">
                <a:solidFill>
                  <a:srgbClr val="FFFFFF"/>
                </a:solidFill>
                <a:latin typeface="Cambria" pitchFamily="34" charset="0"/>
                <a:ea typeface="Cambria" pitchFamily="34" charset="-122"/>
                <a:cs typeface="Cambria" pitchFamily="34" charset="-120"/>
              </a:rPr>
              <a:t>Engineering excellence alone does not guarantee a successful product. Customer understanding is equally important.</a:t>
            </a:r>
            <a:endParaRPr lang="en-US" sz="1600" dirty="0"/>
          </a:p>
        </p:txBody>
      </p:sp>
      <p:sp>
        <p:nvSpPr>
          <p:cNvPr id="11" name="Text 7"/>
          <p:cNvSpPr/>
          <p:nvPr/>
        </p:nvSpPr>
        <p:spPr>
          <a:xfrm>
            <a:off x="11521440" y="6446520"/>
            <a:ext cx="548640" cy="274320"/>
          </a:xfrm>
          <a:prstGeom prst="rect">
            <a:avLst/>
          </a:prstGeom>
          <a:noFill/>
          <a:ln/>
        </p:spPr>
        <p:txBody>
          <a:bodyPr wrap="square" rtlCol="0" anchor="ctr"/>
          <a:lstStyle/>
          <a:p>
            <a:pPr marL="0" indent="0" algn="r">
              <a:buNone/>
            </a:pPr>
            <a:r>
              <a:rPr lang="en-US" sz="1000" dirty="0">
                <a:solidFill>
                  <a:srgbClr val="9AA7B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73152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What is a Customer Insight Survey?</a:t>
            </a:r>
            <a:endParaRPr lang="en-US" sz="3200" dirty="0"/>
          </a:p>
        </p:txBody>
      </p:sp>
      <p:sp>
        <p:nvSpPr>
          <p:cNvPr id="3" name="Text 1"/>
          <p:cNvSpPr/>
          <p:nvPr/>
        </p:nvSpPr>
        <p:spPr>
          <a:xfrm>
            <a:off x="548640" y="1371599"/>
            <a:ext cx="10515600" cy="1322747"/>
          </a:xfrm>
          <a:prstGeom prst="rect">
            <a:avLst/>
          </a:prstGeom>
          <a:noFill/>
          <a:ln/>
        </p:spPr>
        <p:txBody>
          <a:bodyPr wrap="square" lIns="0" tIns="0" rIns="0" bIns="0" rtlCol="0" anchor="ctr"/>
          <a:lstStyle/>
          <a:p>
            <a:pPr marL="0" indent="0">
              <a:buNone/>
            </a:pPr>
            <a:r>
              <a:rPr lang="en-US" dirty="0">
                <a:solidFill>
                  <a:srgbClr val="1B2A4A"/>
                </a:solidFill>
                <a:latin typeface="Calibri" pitchFamily="34" charset="0"/>
                <a:ea typeface="Calibri" pitchFamily="34" charset="-122"/>
                <a:cs typeface="Calibri" pitchFamily="34" charset="-120"/>
              </a:rPr>
              <a:t>A structured conversation with potential customers to validate one core question.</a:t>
            </a:r>
          </a:p>
          <a:p>
            <a:pPr marL="0" indent="0">
              <a:buNone/>
            </a:pPr>
            <a:endParaRPr lang="en-US" dirty="0">
              <a:solidFill>
                <a:srgbClr val="1B2A4A"/>
              </a:solidFill>
              <a:latin typeface="Calibri" pitchFamily="34" charset="0"/>
              <a:ea typeface="Calibri" pitchFamily="34" charset="-122"/>
              <a:cs typeface="Calibri" pitchFamily="34" charset="-120"/>
            </a:endParaRPr>
          </a:p>
          <a:p>
            <a:pPr marL="0" indent="0">
              <a:buNone/>
            </a:pPr>
            <a:r>
              <a:rPr lang="en-US" sz="3200" b="1" dirty="0"/>
              <a:t>Is it a real problem?</a:t>
            </a:r>
          </a:p>
        </p:txBody>
      </p:sp>
      <p:sp>
        <p:nvSpPr>
          <p:cNvPr id="4" name="Shape 2"/>
          <p:cNvSpPr/>
          <p:nvPr/>
        </p:nvSpPr>
        <p:spPr>
          <a:xfrm>
            <a:off x="548640" y="2997928"/>
            <a:ext cx="2542032" cy="2286000"/>
          </a:xfrm>
          <a:prstGeom prst="roundRect">
            <a:avLst>
              <a:gd name="adj" fmla="val 3200"/>
            </a:avLst>
          </a:prstGeom>
          <a:solidFill>
            <a:srgbClr val="F4F7F6"/>
          </a:solidFill>
          <a:ln/>
          <a:effectLst>
            <a:outerShdw blurRad="101600" dist="38100" dir="2700000" algn="bl" rotWithShape="0">
              <a:srgbClr val="000000">
                <a:alpha val="12000"/>
              </a:srgbClr>
            </a:outerShdw>
          </a:effectLst>
        </p:spPr>
      </p:sp>
      <p:sp>
        <p:nvSpPr>
          <p:cNvPr id="5" name="Shape 3"/>
          <p:cNvSpPr/>
          <p:nvPr/>
        </p:nvSpPr>
        <p:spPr>
          <a:xfrm>
            <a:off x="777240" y="3272248"/>
            <a:ext cx="640080" cy="640080"/>
          </a:xfrm>
          <a:prstGeom prst="ellipse">
            <a:avLst/>
          </a:prstGeom>
          <a:solidFill>
            <a:srgbClr val="028090"/>
          </a:solidFill>
          <a:ln/>
        </p:spPr>
      </p:sp>
      <p:pic>
        <p:nvPicPr>
          <p:cNvPr id="6" name="Image 0" descr="preencoded.png"/>
          <p:cNvPicPr>
            <a:picLocks noChangeAspect="1"/>
          </p:cNvPicPr>
          <p:nvPr/>
        </p:nvPicPr>
        <p:blipFill>
          <a:blip r:embed="rId3"/>
          <a:stretch>
            <a:fillRect/>
          </a:stretch>
        </p:blipFill>
        <p:spPr>
          <a:xfrm>
            <a:off x="930859" y="3425867"/>
            <a:ext cx="332842" cy="332842"/>
          </a:xfrm>
          <a:prstGeom prst="rect">
            <a:avLst/>
          </a:prstGeom>
        </p:spPr>
      </p:pic>
      <p:sp>
        <p:nvSpPr>
          <p:cNvPr id="7" name="Text 4"/>
          <p:cNvSpPr/>
          <p:nvPr/>
        </p:nvSpPr>
        <p:spPr>
          <a:xfrm>
            <a:off x="731520" y="4049488"/>
            <a:ext cx="2176272" cy="411480"/>
          </a:xfrm>
          <a:prstGeom prst="rect">
            <a:avLst/>
          </a:prstGeom>
          <a:noFill/>
          <a:ln/>
        </p:spPr>
        <p:txBody>
          <a:bodyPr wrap="square" lIns="0" tIns="0" rIns="0" bIns="0" rtlCol="0" anchor="ctr"/>
          <a:lstStyle/>
          <a:p>
            <a:pPr marL="0" indent="0">
              <a:buNone/>
            </a:pPr>
            <a:r>
              <a:rPr lang="en-US" b="1" dirty="0">
                <a:solidFill>
                  <a:srgbClr val="1B2A4A"/>
                </a:solidFill>
                <a:latin typeface="Calibri" pitchFamily="34" charset="0"/>
                <a:ea typeface="Calibri" pitchFamily="34" charset="-122"/>
                <a:cs typeface="Calibri" pitchFamily="34" charset="-120"/>
              </a:rPr>
              <a:t>Current Solution</a:t>
            </a:r>
            <a:endParaRPr lang="en-US" dirty="0"/>
          </a:p>
        </p:txBody>
      </p:sp>
      <p:sp>
        <p:nvSpPr>
          <p:cNvPr id="8" name="Text 5"/>
          <p:cNvSpPr/>
          <p:nvPr/>
        </p:nvSpPr>
        <p:spPr>
          <a:xfrm>
            <a:off x="731520" y="4460968"/>
            <a:ext cx="2176272" cy="731520"/>
          </a:xfrm>
          <a:prstGeom prst="rect">
            <a:avLst/>
          </a:prstGeom>
          <a:noFill/>
          <a:ln/>
        </p:spPr>
        <p:txBody>
          <a:bodyPr wrap="square" lIns="0" tIns="0" rIns="0" bIns="0" rtlCol="0" anchor="t"/>
          <a:lstStyle/>
          <a:p>
            <a:pPr marL="0" indent="0">
              <a:buNone/>
            </a:pPr>
            <a:r>
              <a:rPr lang="en-US" dirty="0">
                <a:solidFill>
                  <a:srgbClr val="5C6B7A"/>
                </a:solidFill>
                <a:latin typeface="Calibri" pitchFamily="34" charset="0"/>
                <a:ea typeface="Calibri" pitchFamily="34" charset="-122"/>
                <a:cs typeface="Calibri" pitchFamily="34" charset="-120"/>
              </a:rPr>
              <a:t>How is it currently being solved?</a:t>
            </a:r>
            <a:endParaRPr lang="en-US" dirty="0"/>
          </a:p>
        </p:txBody>
      </p:sp>
      <p:sp>
        <p:nvSpPr>
          <p:cNvPr id="9" name="Shape 6"/>
          <p:cNvSpPr/>
          <p:nvPr/>
        </p:nvSpPr>
        <p:spPr>
          <a:xfrm>
            <a:off x="3319272" y="2997928"/>
            <a:ext cx="2542032" cy="2286000"/>
          </a:xfrm>
          <a:prstGeom prst="roundRect">
            <a:avLst>
              <a:gd name="adj" fmla="val 3200"/>
            </a:avLst>
          </a:prstGeom>
          <a:solidFill>
            <a:srgbClr val="F4F7F6"/>
          </a:solidFill>
          <a:ln/>
          <a:effectLst>
            <a:outerShdw blurRad="101600" dist="38100" dir="2700000" algn="bl" rotWithShape="0">
              <a:srgbClr val="000000">
                <a:alpha val="12000"/>
              </a:srgbClr>
            </a:outerShdw>
          </a:effectLst>
        </p:spPr>
      </p:sp>
      <p:sp>
        <p:nvSpPr>
          <p:cNvPr id="10" name="Shape 7"/>
          <p:cNvSpPr/>
          <p:nvPr/>
        </p:nvSpPr>
        <p:spPr>
          <a:xfrm>
            <a:off x="3547872" y="3272248"/>
            <a:ext cx="640080" cy="640080"/>
          </a:xfrm>
          <a:prstGeom prst="ellipse">
            <a:avLst/>
          </a:prstGeom>
          <a:solidFill>
            <a:srgbClr val="028090"/>
          </a:solidFill>
          <a:ln/>
        </p:spPr>
      </p:sp>
      <p:pic>
        <p:nvPicPr>
          <p:cNvPr id="11" name="Image 1" descr="preencoded.png"/>
          <p:cNvPicPr>
            <a:picLocks noChangeAspect="1"/>
          </p:cNvPicPr>
          <p:nvPr/>
        </p:nvPicPr>
        <p:blipFill>
          <a:blip r:embed="rId4"/>
          <a:stretch>
            <a:fillRect/>
          </a:stretch>
        </p:blipFill>
        <p:spPr>
          <a:xfrm>
            <a:off x="3701491" y="3425867"/>
            <a:ext cx="332842" cy="332842"/>
          </a:xfrm>
          <a:prstGeom prst="rect">
            <a:avLst/>
          </a:prstGeom>
        </p:spPr>
      </p:pic>
      <p:sp>
        <p:nvSpPr>
          <p:cNvPr id="12" name="Text 8"/>
          <p:cNvSpPr/>
          <p:nvPr/>
        </p:nvSpPr>
        <p:spPr>
          <a:xfrm>
            <a:off x="3502152" y="4049488"/>
            <a:ext cx="2176272" cy="411480"/>
          </a:xfrm>
          <a:prstGeom prst="rect">
            <a:avLst/>
          </a:prstGeom>
          <a:noFill/>
          <a:ln/>
        </p:spPr>
        <p:txBody>
          <a:bodyPr wrap="square" lIns="0" tIns="0" rIns="0" bIns="0" rtlCol="0" anchor="ctr"/>
          <a:lstStyle/>
          <a:p>
            <a:pPr marL="0" indent="0">
              <a:buNone/>
            </a:pPr>
            <a:r>
              <a:rPr lang="en-US" b="1" dirty="0">
                <a:solidFill>
                  <a:srgbClr val="1B2A4A"/>
                </a:solidFill>
                <a:latin typeface="Calibri" pitchFamily="34" charset="0"/>
                <a:ea typeface="Calibri" pitchFamily="34" charset="-122"/>
                <a:cs typeface="Calibri" pitchFamily="34" charset="-120"/>
              </a:rPr>
              <a:t>Target Market</a:t>
            </a:r>
            <a:endParaRPr lang="en-US" dirty="0"/>
          </a:p>
        </p:txBody>
      </p:sp>
      <p:sp>
        <p:nvSpPr>
          <p:cNvPr id="13" name="Text 9"/>
          <p:cNvSpPr/>
          <p:nvPr/>
        </p:nvSpPr>
        <p:spPr>
          <a:xfrm>
            <a:off x="3502152" y="4460968"/>
            <a:ext cx="2176272" cy="731520"/>
          </a:xfrm>
          <a:prstGeom prst="rect">
            <a:avLst/>
          </a:prstGeom>
          <a:noFill/>
          <a:ln/>
        </p:spPr>
        <p:txBody>
          <a:bodyPr wrap="square" lIns="0" tIns="0" rIns="0" bIns="0" rtlCol="0" anchor="t"/>
          <a:lstStyle/>
          <a:p>
            <a:pPr marL="0" indent="0">
              <a:buNone/>
            </a:pPr>
            <a:r>
              <a:rPr lang="en-US" dirty="0">
                <a:solidFill>
                  <a:srgbClr val="5C6B7A"/>
                </a:solidFill>
                <a:latin typeface="Calibri" pitchFamily="34" charset="0"/>
                <a:ea typeface="Calibri" pitchFamily="34" charset="-122"/>
                <a:cs typeface="Calibri" pitchFamily="34" charset="-120"/>
              </a:rPr>
              <a:t>Whose problem is it?</a:t>
            </a:r>
            <a:endParaRPr lang="en-US" dirty="0"/>
          </a:p>
        </p:txBody>
      </p:sp>
      <p:sp>
        <p:nvSpPr>
          <p:cNvPr id="14" name="Shape 10"/>
          <p:cNvSpPr/>
          <p:nvPr/>
        </p:nvSpPr>
        <p:spPr>
          <a:xfrm>
            <a:off x="6089904" y="2997928"/>
            <a:ext cx="2542032" cy="2286000"/>
          </a:xfrm>
          <a:prstGeom prst="roundRect">
            <a:avLst>
              <a:gd name="adj" fmla="val 3200"/>
            </a:avLst>
          </a:prstGeom>
          <a:solidFill>
            <a:srgbClr val="F4F7F6"/>
          </a:solidFill>
          <a:ln/>
          <a:effectLst>
            <a:outerShdw blurRad="101600" dist="38100" dir="2700000" algn="bl" rotWithShape="0">
              <a:srgbClr val="000000">
                <a:alpha val="12000"/>
              </a:srgbClr>
            </a:outerShdw>
          </a:effectLst>
        </p:spPr>
      </p:sp>
      <p:sp>
        <p:nvSpPr>
          <p:cNvPr id="15" name="Shape 11"/>
          <p:cNvSpPr/>
          <p:nvPr/>
        </p:nvSpPr>
        <p:spPr>
          <a:xfrm>
            <a:off x="6318504" y="3272248"/>
            <a:ext cx="640080" cy="640080"/>
          </a:xfrm>
          <a:prstGeom prst="ellipse">
            <a:avLst/>
          </a:prstGeom>
          <a:solidFill>
            <a:srgbClr val="028090"/>
          </a:solidFill>
          <a:ln/>
        </p:spPr>
      </p:sp>
      <p:pic>
        <p:nvPicPr>
          <p:cNvPr id="16" name="Image 2" descr="preencoded.png"/>
          <p:cNvPicPr>
            <a:picLocks noChangeAspect="1"/>
          </p:cNvPicPr>
          <p:nvPr/>
        </p:nvPicPr>
        <p:blipFill>
          <a:blip r:embed="rId5"/>
          <a:stretch>
            <a:fillRect/>
          </a:stretch>
        </p:blipFill>
        <p:spPr>
          <a:xfrm>
            <a:off x="6472123" y="3425867"/>
            <a:ext cx="332842" cy="332842"/>
          </a:xfrm>
          <a:prstGeom prst="rect">
            <a:avLst/>
          </a:prstGeom>
        </p:spPr>
      </p:pic>
      <p:sp>
        <p:nvSpPr>
          <p:cNvPr id="17" name="Text 12"/>
          <p:cNvSpPr/>
          <p:nvPr/>
        </p:nvSpPr>
        <p:spPr>
          <a:xfrm>
            <a:off x="6272784" y="4049488"/>
            <a:ext cx="2176272" cy="411480"/>
          </a:xfrm>
          <a:prstGeom prst="rect">
            <a:avLst/>
          </a:prstGeom>
          <a:noFill/>
          <a:ln/>
        </p:spPr>
        <p:txBody>
          <a:bodyPr wrap="square" lIns="0" tIns="0" rIns="0" bIns="0" rtlCol="0" anchor="ctr"/>
          <a:lstStyle/>
          <a:p>
            <a:pPr marL="0" indent="0">
              <a:buNone/>
            </a:pPr>
            <a:r>
              <a:rPr lang="en-US" b="1" dirty="0">
                <a:solidFill>
                  <a:srgbClr val="1B2A4A"/>
                </a:solidFill>
                <a:latin typeface="Calibri" pitchFamily="34" charset="0"/>
                <a:ea typeface="Calibri" pitchFamily="34" charset="-122"/>
                <a:cs typeface="Calibri" pitchFamily="34" charset="-120"/>
              </a:rPr>
              <a:t>Customer Interest</a:t>
            </a:r>
            <a:endParaRPr lang="en-US" dirty="0"/>
          </a:p>
        </p:txBody>
      </p:sp>
      <p:sp>
        <p:nvSpPr>
          <p:cNvPr id="18" name="Text 13"/>
          <p:cNvSpPr/>
          <p:nvPr/>
        </p:nvSpPr>
        <p:spPr>
          <a:xfrm>
            <a:off x="6272784" y="4460968"/>
            <a:ext cx="2176272" cy="731520"/>
          </a:xfrm>
          <a:prstGeom prst="rect">
            <a:avLst/>
          </a:prstGeom>
          <a:noFill/>
          <a:ln/>
        </p:spPr>
        <p:txBody>
          <a:bodyPr wrap="square" lIns="0" tIns="0" rIns="0" bIns="0" rtlCol="0" anchor="t"/>
          <a:lstStyle/>
          <a:p>
            <a:pPr marL="0" indent="0">
              <a:buNone/>
            </a:pPr>
            <a:r>
              <a:rPr lang="en-US" dirty="0">
                <a:solidFill>
                  <a:srgbClr val="5C6B7A"/>
                </a:solidFill>
                <a:latin typeface="Calibri" pitchFamily="34" charset="0"/>
                <a:ea typeface="Calibri" pitchFamily="34" charset="-122"/>
                <a:cs typeface="Calibri" pitchFamily="34" charset="-120"/>
              </a:rPr>
              <a:t>Is the customer interested in our solution?</a:t>
            </a:r>
            <a:endParaRPr lang="en-US" dirty="0"/>
          </a:p>
        </p:txBody>
      </p:sp>
      <p:sp>
        <p:nvSpPr>
          <p:cNvPr id="19" name="Shape 14"/>
          <p:cNvSpPr/>
          <p:nvPr/>
        </p:nvSpPr>
        <p:spPr>
          <a:xfrm>
            <a:off x="8860536" y="2997928"/>
            <a:ext cx="2542032" cy="2286000"/>
          </a:xfrm>
          <a:prstGeom prst="roundRect">
            <a:avLst>
              <a:gd name="adj" fmla="val 3200"/>
            </a:avLst>
          </a:prstGeom>
          <a:solidFill>
            <a:srgbClr val="F4F7F6"/>
          </a:solidFill>
          <a:ln/>
          <a:effectLst>
            <a:outerShdw blurRad="101600" dist="38100" dir="2700000" algn="bl" rotWithShape="0">
              <a:srgbClr val="000000">
                <a:alpha val="12000"/>
              </a:srgbClr>
            </a:outerShdw>
          </a:effectLst>
        </p:spPr>
      </p:sp>
      <p:sp>
        <p:nvSpPr>
          <p:cNvPr id="20" name="Shape 15"/>
          <p:cNvSpPr/>
          <p:nvPr/>
        </p:nvSpPr>
        <p:spPr>
          <a:xfrm>
            <a:off x="9089136" y="3272248"/>
            <a:ext cx="640080" cy="640080"/>
          </a:xfrm>
          <a:prstGeom prst="ellipse">
            <a:avLst/>
          </a:prstGeom>
          <a:solidFill>
            <a:srgbClr val="028090"/>
          </a:solidFill>
          <a:ln/>
        </p:spPr>
      </p:sp>
      <p:pic>
        <p:nvPicPr>
          <p:cNvPr id="21" name="Image 3" descr="preencoded.png"/>
          <p:cNvPicPr>
            <a:picLocks noChangeAspect="1"/>
          </p:cNvPicPr>
          <p:nvPr/>
        </p:nvPicPr>
        <p:blipFill>
          <a:blip r:embed="rId6"/>
          <a:stretch>
            <a:fillRect/>
          </a:stretch>
        </p:blipFill>
        <p:spPr>
          <a:xfrm>
            <a:off x="9242755" y="3425867"/>
            <a:ext cx="332842" cy="332842"/>
          </a:xfrm>
          <a:prstGeom prst="rect">
            <a:avLst/>
          </a:prstGeom>
        </p:spPr>
      </p:pic>
      <p:sp>
        <p:nvSpPr>
          <p:cNvPr id="22" name="Text 16"/>
          <p:cNvSpPr/>
          <p:nvPr/>
        </p:nvSpPr>
        <p:spPr>
          <a:xfrm>
            <a:off x="9043416" y="4049488"/>
            <a:ext cx="2176272" cy="411480"/>
          </a:xfrm>
          <a:prstGeom prst="rect">
            <a:avLst/>
          </a:prstGeom>
          <a:noFill/>
          <a:ln/>
        </p:spPr>
        <p:txBody>
          <a:bodyPr wrap="square" lIns="0" tIns="0" rIns="0" bIns="0" rtlCol="0" anchor="ctr"/>
          <a:lstStyle/>
          <a:p>
            <a:pPr marL="0" indent="0">
              <a:buNone/>
            </a:pPr>
            <a:r>
              <a:rPr lang="en-US" b="1" dirty="0">
                <a:solidFill>
                  <a:srgbClr val="1B2A4A"/>
                </a:solidFill>
                <a:latin typeface="Calibri" pitchFamily="34" charset="0"/>
                <a:ea typeface="Calibri" pitchFamily="34" charset="-122"/>
                <a:cs typeface="Calibri" pitchFamily="34" charset="-120"/>
              </a:rPr>
              <a:t>Willingness to Pay</a:t>
            </a:r>
            <a:endParaRPr lang="en-US" dirty="0"/>
          </a:p>
        </p:txBody>
      </p:sp>
      <p:sp>
        <p:nvSpPr>
          <p:cNvPr id="23" name="Text 17"/>
          <p:cNvSpPr/>
          <p:nvPr/>
        </p:nvSpPr>
        <p:spPr>
          <a:xfrm>
            <a:off x="9043416" y="4460968"/>
            <a:ext cx="2176272" cy="731520"/>
          </a:xfrm>
          <a:prstGeom prst="rect">
            <a:avLst/>
          </a:prstGeom>
          <a:noFill/>
          <a:ln/>
        </p:spPr>
        <p:txBody>
          <a:bodyPr wrap="square" lIns="0" tIns="0" rIns="0" bIns="0" rtlCol="0" anchor="t"/>
          <a:lstStyle/>
          <a:p>
            <a:pPr marL="0" indent="0">
              <a:buNone/>
            </a:pPr>
            <a:r>
              <a:rPr lang="en-US" dirty="0">
                <a:solidFill>
                  <a:srgbClr val="5C6B7A"/>
                </a:solidFill>
                <a:latin typeface="Calibri" pitchFamily="34" charset="0"/>
                <a:ea typeface="Calibri" pitchFamily="34" charset="-122"/>
                <a:cs typeface="Calibri" pitchFamily="34" charset="-120"/>
              </a:rPr>
              <a:t>Are they willing to pay for it?</a:t>
            </a:r>
            <a:endParaRPr lang="en-US" dirty="0"/>
          </a:p>
        </p:txBody>
      </p:sp>
      <p:sp>
        <p:nvSpPr>
          <p:cNvPr id="24" name="Shape 18"/>
          <p:cNvSpPr/>
          <p:nvPr/>
        </p:nvSpPr>
        <p:spPr>
          <a:xfrm>
            <a:off x="548640" y="5614231"/>
            <a:ext cx="10515600" cy="777240"/>
          </a:xfrm>
          <a:prstGeom prst="roundRect">
            <a:avLst>
              <a:gd name="adj" fmla="val 9412"/>
            </a:avLst>
          </a:prstGeom>
          <a:solidFill>
            <a:srgbClr val="028090"/>
          </a:solidFill>
          <a:ln/>
        </p:spPr>
      </p:sp>
      <p:sp>
        <p:nvSpPr>
          <p:cNvPr id="25" name="Text 19"/>
          <p:cNvSpPr/>
          <p:nvPr/>
        </p:nvSpPr>
        <p:spPr>
          <a:xfrm>
            <a:off x="822960" y="5614231"/>
            <a:ext cx="9966960" cy="777240"/>
          </a:xfrm>
          <a:prstGeom prst="rect">
            <a:avLst/>
          </a:prstGeom>
          <a:noFill/>
          <a:ln/>
        </p:spPr>
        <p:txBody>
          <a:bodyPr wrap="square" lIns="0" tIns="0" rIns="0" bIns="0" rtlCol="0" anchor="ctr"/>
          <a:lstStyle/>
          <a:p>
            <a:pPr marL="0" indent="0">
              <a:buNone/>
            </a:pPr>
            <a:r>
              <a:rPr lang="en-US" i="1" dirty="0">
                <a:solidFill>
                  <a:srgbClr val="FFFFFF"/>
                </a:solidFill>
                <a:latin typeface="Cambria" pitchFamily="34" charset="0"/>
                <a:ea typeface="Cambria" pitchFamily="34" charset="-122"/>
                <a:cs typeface="Cambria" pitchFamily="34" charset="-120"/>
              </a:rPr>
              <a:t>The objective is not to sell the product, but to learn from the customer.   |   Listen first. Improve later.</a:t>
            </a:r>
            <a:endParaRPr lang="en-US" dirty="0"/>
          </a:p>
        </p:txBody>
      </p:sp>
      <p:sp>
        <p:nvSpPr>
          <p:cNvPr id="26" name="Text 20"/>
          <p:cNvSpPr/>
          <p:nvPr/>
        </p:nvSpPr>
        <p:spPr>
          <a:xfrm>
            <a:off x="11521440" y="6446520"/>
            <a:ext cx="548640" cy="274320"/>
          </a:xfrm>
          <a:prstGeom prst="rect">
            <a:avLst/>
          </a:prstGeom>
          <a:noFill/>
          <a:ln/>
        </p:spPr>
        <p:txBody>
          <a:bodyPr wrap="square" rtlCol="0" anchor="ctr"/>
          <a:lstStyle/>
          <a:p>
            <a:pPr marL="0" indent="0" algn="r">
              <a:buNone/>
            </a:pPr>
            <a:r>
              <a:rPr lang="en-US" sz="1000" dirty="0">
                <a:solidFill>
                  <a:srgbClr val="9AA7B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73152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Who Should You Interview?</a:t>
            </a:r>
            <a:endParaRPr lang="en-US" sz="3200" dirty="0"/>
          </a:p>
        </p:txBody>
      </p:sp>
      <p:sp>
        <p:nvSpPr>
          <p:cNvPr id="3" name="Text 1"/>
          <p:cNvSpPr/>
          <p:nvPr/>
        </p:nvSpPr>
        <p:spPr>
          <a:xfrm>
            <a:off x="548640" y="1188720"/>
            <a:ext cx="10515600" cy="411480"/>
          </a:xfrm>
          <a:prstGeom prst="rect">
            <a:avLst/>
          </a:prstGeom>
          <a:noFill/>
          <a:ln/>
        </p:spPr>
        <p:txBody>
          <a:bodyPr wrap="square" lIns="0" tIns="0" rIns="0" bIns="0" rtlCol="0" anchor="ctr"/>
          <a:lstStyle/>
          <a:p>
            <a:pPr marL="0" indent="0">
              <a:buNone/>
            </a:pPr>
            <a:r>
              <a:rPr lang="en-US" dirty="0">
                <a:solidFill>
                  <a:srgbClr val="5C6B7A"/>
                </a:solidFill>
                <a:latin typeface="Calibri" pitchFamily="34" charset="0"/>
                <a:ea typeface="Calibri" pitchFamily="34" charset="-122"/>
                <a:cs typeface="Calibri" pitchFamily="34" charset="-120"/>
              </a:rPr>
              <a:t>The most valuable insights come from people connected with the product in different ways.</a:t>
            </a:r>
            <a:endParaRPr lang="en-US" dirty="0"/>
          </a:p>
        </p:txBody>
      </p:sp>
      <p:graphicFrame>
        <p:nvGraphicFramePr>
          <p:cNvPr id="5" name="Table 0"/>
          <p:cNvGraphicFramePr>
            <a:graphicFrameLocks noGrp="1"/>
          </p:cNvGraphicFramePr>
          <p:nvPr>
            <p:extLst>
              <p:ext uri="{D42A27DB-BD31-4B8C-83A1-F6EECF244321}">
                <p14:modId xmlns:p14="http://schemas.microsoft.com/office/powerpoint/2010/main" val="3721143635"/>
              </p:ext>
            </p:extLst>
          </p:nvPr>
        </p:nvGraphicFramePr>
        <p:xfrm>
          <a:off x="548640" y="1737360"/>
          <a:ext cx="6675120" cy="3429000"/>
        </p:xfrm>
        <a:graphic>
          <a:graphicData uri="http://schemas.openxmlformats.org/drawingml/2006/table">
            <a:tbl>
              <a:tblPr/>
              <a:tblGrid>
                <a:gridCol w="301752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441960">
                <a:tc>
                  <a:txBody>
                    <a:bodyPr/>
                    <a:lstStyle/>
                    <a:p>
                      <a:pPr marL="0" indent="0">
                        <a:buNone/>
                      </a:pPr>
                      <a:r>
                        <a:rPr lang="en-US" sz="1800" b="1" dirty="0">
                          <a:solidFill>
                            <a:srgbClr val="FFFFFF"/>
                          </a:solidFill>
                        </a:rPr>
                        <a:t>Stakeholder</a:t>
                      </a:r>
                      <a:endParaRPr lang="en-US" sz="1800" dirty="0"/>
                    </a:p>
                  </a:txBody>
                  <a:tcPr marL="101600" marR="101600" marT="76200" marB="76200" anchor="ctr">
                    <a:lnL w="6350" cap="flat" cmpd="sng" algn="ctr">
                      <a:solidFill>
                        <a:srgbClr val="DDE5E3"/>
                      </a:solidFill>
                      <a:prstDash val="solid"/>
                      <a:round/>
                      <a:headEnd type="none" w="med" len="med"/>
                      <a:tailEnd type="none" w="med" len="med"/>
                    </a:lnL>
                    <a:lnR w="6350" cap="flat" cmpd="sng" algn="ctr">
                      <a:solidFill>
                        <a:srgbClr val="DDE5E3"/>
                      </a:solidFill>
                      <a:prstDash val="solid"/>
                      <a:round/>
                      <a:headEnd type="none" w="med" len="med"/>
                      <a:tailEnd type="none" w="med" len="med"/>
                    </a:lnR>
                    <a:lnT w="6350" cap="flat" cmpd="sng" algn="ctr">
                      <a:solidFill>
                        <a:srgbClr val="DDE5E3"/>
                      </a:solidFill>
                      <a:prstDash val="solid"/>
                      <a:round/>
                      <a:headEnd type="none" w="med" len="med"/>
                      <a:tailEnd type="none" w="med" len="med"/>
                    </a:lnT>
                    <a:lnB w="6350" cap="flat" cmpd="sng" algn="ctr">
                      <a:solidFill>
                        <a:srgbClr val="DDE5E3"/>
                      </a:solidFill>
                      <a:prstDash val="solid"/>
                      <a:round/>
                      <a:headEnd type="none" w="med" len="med"/>
                      <a:tailEnd type="none" w="med" len="med"/>
                    </a:lnB>
                    <a:solidFill>
                      <a:srgbClr val="1B2A4A"/>
                    </a:solidFill>
                  </a:tcPr>
                </a:tc>
                <a:tc>
                  <a:txBody>
                    <a:bodyPr/>
                    <a:lstStyle/>
                    <a:p>
                      <a:pPr marL="0" indent="0">
                        <a:buNone/>
                      </a:pPr>
                      <a:r>
                        <a:rPr lang="en-US" sz="1800" b="1" dirty="0">
                          <a:solidFill>
                            <a:srgbClr val="FFFFFF"/>
                          </a:solidFill>
                        </a:rPr>
                        <a:t>Why Interview Them?</a:t>
                      </a:r>
                      <a:endParaRPr lang="en-US" sz="1800" dirty="0"/>
                    </a:p>
                  </a:txBody>
                  <a:tcPr marL="101600" marR="101600" marT="76200" marB="76200" anchor="ctr">
                    <a:lnL w="6350" cap="flat" cmpd="sng" algn="ctr">
                      <a:solidFill>
                        <a:srgbClr val="DDE5E3"/>
                      </a:solidFill>
                      <a:prstDash val="solid"/>
                      <a:round/>
                      <a:headEnd type="none" w="med" len="med"/>
                      <a:tailEnd type="none" w="med" len="med"/>
                    </a:lnL>
                    <a:lnR w="6350" cap="flat" cmpd="sng" algn="ctr">
                      <a:solidFill>
                        <a:srgbClr val="DDE5E3"/>
                      </a:solidFill>
                      <a:prstDash val="solid"/>
                      <a:round/>
                      <a:headEnd type="none" w="med" len="med"/>
                      <a:tailEnd type="none" w="med" len="med"/>
                    </a:lnR>
                    <a:lnT w="6350" cap="flat" cmpd="sng" algn="ctr">
                      <a:solidFill>
                        <a:srgbClr val="DDE5E3"/>
                      </a:solidFill>
                      <a:prstDash val="solid"/>
                      <a:round/>
                      <a:headEnd type="none" w="med" len="med"/>
                      <a:tailEnd type="none" w="med" len="med"/>
                    </a:lnT>
                    <a:lnB w="6350" cap="flat" cmpd="sng" algn="ctr">
                      <a:solidFill>
                        <a:srgbClr val="DDE5E3"/>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41960">
                <a:tc>
                  <a:txBody>
                    <a:bodyPr/>
                    <a:lstStyle/>
                    <a:p>
                      <a:pPr marL="0" indent="0">
                        <a:buNone/>
                      </a:pPr>
                      <a:r>
                        <a:rPr lang="en-US" sz="1800" dirty="0">
                          <a:solidFill>
                            <a:srgbClr val="1B2A4A"/>
                          </a:solidFill>
                        </a:rPr>
                        <a:t>End User</a:t>
                      </a:r>
                      <a:endParaRPr lang="en-US" sz="1800" dirty="0"/>
                    </a:p>
                  </a:txBody>
                  <a:tcPr marL="101600" marR="101600" marT="76200" marB="76200" anchor="ctr">
                    <a:lnL w="6350" cap="flat" cmpd="sng" algn="ctr">
                      <a:solidFill>
                        <a:srgbClr val="DDE5E3"/>
                      </a:solidFill>
                      <a:prstDash val="solid"/>
                      <a:round/>
                      <a:headEnd type="none" w="med" len="med"/>
                      <a:tailEnd type="none" w="med" len="med"/>
                    </a:lnL>
                    <a:lnR w="6350" cap="flat" cmpd="sng" algn="ctr">
                      <a:solidFill>
                        <a:srgbClr val="DDE5E3"/>
                      </a:solidFill>
                      <a:prstDash val="solid"/>
                      <a:round/>
                      <a:headEnd type="none" w="med" len="med"/>
                      <a:tailEnd type="none" w="med" len="med"/>
                    </a:lnR>
                    <a:lnT w="6350" cap="flat" cmpd="sng" algn="ctr">
                      <a:solidFill>
                        <a:srgbClr val="DDE5E3"/>
                      </a:solidFill>
                      <a:prstDash val="solid"/>
                      <a:round/>
                      <a:headEnd type="none" w="med" len="med"/>
                      <a:tailEnd type="none" w="med" len="med"/>
                    </a:lnT>
                    <a:lnB w="6350" cap="flat" cmpd="sng" algn="ctr">
                      <a:solidFill>
                        <a:srgbClr val="DDE5E3"/>
                      </a:solidFill>
                      <a:prstDash val="solid"/>
                      <a:round/>
                      <a:headEnd type="none" w="med" len="med"/>
                      <a:tailEnd type="none" w="med" len="med"/>
                    </a:lnB>
                    <a:solidFill>
                      <a:srgbClr val="FFFFFF"/>
                    </a:solidFill>
                  </a:tcPr>
                </a:tc>
                <a:tc>
                  <a:txBody>
                    <a:bodyPr/>
                    <a:lstStyle/>
                    <a:p>
                      <a:pPr marL="0" indent="0">
                        <a:buNone/>
                      </a:pPr>
                      <a:r>
                        <a:rPr lang="en-US" sz="1800" dirty="0">
                          <a:solidFill>
                            <a:srgbClr val="1B2A4A"/>
                          </a:solidFill>
                        </a:rPr>
                        <a:t>Uses the product regularly</a:t>
                      </a:r>
                      <a:endParaRPr lang="en-US" sz="1800" dirty="0"/>
                    </a:p>
                  </a:txBody>
                  <a:tcPr marL="101600" marR="101600" marT="76200" marB="76200" anchor="ctr">
                    <a:lnL w="6350" cap="flat" cmpd="sng" algn="ctr">
                      <a:solidFill>
                        <a:srgbClr val="DDE5E3"/>
                      </a:solidFill>
                      <a:prstDash val="solid"/>
                      <a:round/>
                      <a:headEnd type="none" w="med" len="med"/>
                      <a:tailEnd type="none" w="med" len="med"/>
                    </a:lnL>
                    <a:lnR w="6350" cap="flat" cmpd="sng" algn="ctr">
                      <a:solidFill>
                        <a:srgbClr val="DDE5E3"/>
                      </a:solidFill>
                      <a:prstDash val="solid"/>
                      <a:round/>
                      <a:headEnd type="none" w="med" len="med"/>
                      <a:tailEnd type="none" w="med" len="med"/>
                    </a:lnR>
                    <a:lnT w="6350" cap="flat" cmpd="sng" algn="ctr">
                      <a:solidFill>
                        <a:srgbClr val="DDE5E3"/>
                      </a:solidFill>
                      <a:prstDash val="solid"/>
                      <a:round/>
                      <a:headEnd type="none" w="med" len="med"/>
                      <a:tailEnd type="none" w="med" len="med"/>
                    </a:lnT>
                    <a:lnB w="6350" cap="flat" cmpd="sng" algn="ctr">
                      <a:solidFill>
                        <a:srgbClr val="DDE5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41960">
                <a:tc>
                  <a:txBody>
                    <a:bodyPr/>
                    <a:lstStyle/>
                    <a:p>
                      <a:pPr marL="0" indent="0">
                        <a:buNone/>
                      </a:pPr>
                      <a:r>
                        <a:rPr lang="en-US" sz="1800" dirty="0">
                          <a:solidFill>
                            <a:srgbClr val="1B2A4A"/>
                          </a:solidFill>
                        </a:rPr>
                        <a:t>Customer / Buyer</a:t>
                      </a:r>
                      <a:endParaRPr lang="en-US" sz="1800" dirty="0"/>
                    </a:p>
                  </a:txBody>
                  <a:tcPr marL="101600" marR="101600" marT="76200" marB="76200" anchor="ctr">
                    <a:lnL w="6350" cap="flat" cmpd="sng" algn="ctr">
                      <a:solidFill>
                        <a:srgbClr val="DDE5E3"/>
                      </a:solidFill>
                      <a:prstDash val="solid"/>
                      <a:round/>
                      <a:headEnd type="none" w="med" len="med"/>
                      <a:tailEnd type="none" w="med" len="med"/>
                    </a:lnL>
                    <a:lnR w="6350" cap="flat" cmpd="sng" algn="ctr">
                      <a:solidFill>
                        <a:srgbClr val="DDE5E3"/>
                      </a:solidFill>
                      <a:prstDash val="solid"/>
                      <a:round/>
                      <a:headEnd type="none" w="med" len="med"/>
                      <a:tailEnd type="none" w="med" len="med"/>
                    </a:lnR>
                    <a:lnT w="6350" cap="flat" cmpd="sng" algn="ctr">
                      <a:solidFill>
                        <a:srgbClr val="DDE5E3"/>
                      </a:solidFill>
                      <a:prstDash val="solid"/>
                      <a:round/>
                      <a:headEnd type="none" w="med" len="med"/>
                      <a:tailEnd type="none" w="med" len="med"/>
                    </a:lnT>
                    <a:lnB w="6350" cap="flat" cmpd="sng" algn="ctr">
                      <a:solidFill>
                        <a:srgbClr val="DDE5E3"/>
                      </a:solidFill>
                      <a:prstDash val="solid"/>
                      <a:round/>
                      <a:headEnd type="none" w="med" len="med"/>
                      <a:tailEnd type="none" w="med" len="med"/>
                    </a:lnB>
                    <a:solidFill>
                      <a:srgbClr val="F4F7F6"/>
                    </a:solidFill>
                  </a:tcPr>
                </a:tc>
                <a:tc>
                  <a:txBody>
                    <a:bodyPr/>
                    <a:lstStyle/>
                    <a:p>
                      <a:pPr marL="0" indent="0">
                        <a:buNone/>
                      </a:pPr>
                      <a:r>
                        <a:rPr lang="en-US" sz="1800" dirty="0">
                          <a:solidFill>
                            <a:srgbClr val="1B2A4A"/>
                          </a:solidFill>
                        </a:rPr>
                        <a:t>Decides whether to purchase the product</a:t>
                      </a:r>
                      <a:endParaRPr lang="en-US" sz="1800" dirty="0"/>
                    </a:p>
                  </a:txBody>
                  <a:tcPr marL="101600" marR="101600" marT="76200" marB="76200" anchor="ctr">
                    <a:lnL w="6350" cap="flat" cmpd="sng" algn="ctr">
                      <a:solidFill>
                        <a:srgbClr val="DDE5E3"/>
                      </a:solidFill>
                      <a:prstDash val="solid"/>
                      <a:round/>
                      <a:headEnd type="none" w="med" len="med"/>
                      <a:tailEnd type="none" w="med" len="med"/>
                    </a:lnL>
                    <a:lnR w="6350" cap="flat" cmpd="sng" algn="ctr">
                      <a:solidFill>
                        <a:srgbClr val="DDE5E3"/>
                      </a:solidFill>
                      <a:prstDash val="solid"/>
                      <a:round/>
                      <a:headEnd type="none" w="med" len="med"/>
                      <a:tailEnd type="none" w="med" len="med"/>
                    </a:lnR>
                    <a:lnT w="6350" cap="flat" cmpd="sng" algn="ctr">
                      <a:solidFill>
                        <a:srgbClr val="DDE5E3"/>
                      </a:solidFill>
                      <a:prstDash val="solid"/>
                      <a:round/>
                      <a:headEnd type="none" w="med" len="med"/>
                      <a:tailEnd type="none" w="med" len="med"/>
                    </a:lnT>
                    <a:lnB w="6350" cap="flat" cmpd="sng" algn="ctr">
                      <a:solidFill>
                        <a:srgbClr val="DDE5E3"/>
                      </a:solidFill>
                      <a:prstDash val="solid"/>
                      <a:round/>
                      <a:headEnd type="none" w="med" len="med"/>
                      <a:tailEnd type="none" w="med" len="med"/>
                    </a:lnB>
                    <a:solidFill>
                      <a:srgbClr val="F4F7F6"/>
                    </a:solidFill>
                  </a:tcPr>
                </a:tc>
                <a:extLst>
                  <a:ext uri="{0D108BD9-81ED-4DB2-BD59-A6C34878D82A}">
                    <a16:rowId xmlns:a16="http://schemas.microsoft.com/office/drawing/2014/main" val="10002"/>
                  </a:ext>
                </a:extLst>
              </a:tr>
              <a:tr h="441960">
                <a:tc>
                  <a:txBody>
                    <a:bodyPr/>
                    <a:lstStyle/>
                    <a:p>
                      <a:pPr marL="0" indent="0">
                        <a:buNone/>
                      </a:pPr>
                      <a:r>
                        <a:rPr lang="en-US" sz="1800" dirty="0">
                          <a:solidFill>
                            <a:srgbClr val="1B2A4A"/>
                          </a:solidFill>
                        </a:rPr>
                        <a:t>Operator</a:t>
                      </a:r>
                      <a:endParaRPr lang="en-US" sz="1800" dirty="0"/>
                    </a:p>
                  </a:txBody>
                  <a:tcPr marL="101600" marR="101600" marT="76200" marB="76200" anchor="ctr">
                    <a:lnL w="6350" cap="flat" cmpd="sng" algn="ctr">
                      <a:solidFill>
                        <a:srgbClr val="DDE5E3"/>
                      </a:solidFill>
                      <a:prstDash val="solid"/>
                      <a:round/>
                      <a:headEnd type="none" w="med" len="med"/>
                      <a:tailEnd type="none" w="med" len="med"/>
                    </a:lnL>
                    <a:lnR w="6350" cap="flat" cmpd="sng" algn="ctr">
                      <a:solidFill>
                        <a:srgbClr val="DDE5E3"/>
                      </a:solidFill>
                      <a:prstDash val="solid"/>
                      <a:round/>
                      <a:headEnd type="none" w="med" len="med"/>
                      <a:tailEnd type="none" w="med" len="med"/>
                    </a:lnR>
                    <a:lnT w="6350" cap="flat" cmpd="sng" algn="ctr">
                      <a:solidFill>
                        <a:srgbClr val="DDE5E3"/>
                      </a:solidFill>
                      <a:prstDash val="solid"/>
                      <a:round/>
                      <a:headEnd type="none" w="med" len="med"/>
                      <a:tailEnd type="none" w="med" len="med"/>
                    </a:lnT>
                    <a:lnB w="6350" cap="flat" cmpd="sng" algn="ctr">
                      <a:solidFill>
                        <a:srgbClr val="DDE5E3"/>
                      </a:solidFill>
                      <a:prstDash val="solid"/>
                      <a:round/>
                      <a:headEnd type="none" w="med" len="med"/>
                      <a:tailEnd type="none" w="med" len="med"/>
                    </a:lnB>
                    <a:solidFill>
                      <a:srgbClr val="FFFFFF"/>
                    </a:solidFill>
                  </a:tcPr>
                </a:tc>
                <a:tc>
                  <a:txBody>
                    <a:bodyPr/>
                    <a:lstStyle/>
                    <a:p>
                      <a:pPr marL="0" indent="0">
                        <a:buNone/>
                      </a:pPr>
                      <a:r>
                        <a:rPr lang="en-US" sz="1800" dirty="0">
                          <a:solidFill>
                            <a:srgbClr val="1B2A4A"/>
                          </a:solidFill>
                        </a:rPr>
                        <a:t>Uses the product during daily work</a:t>
                      </a:r>
                      <a:endParaRPr lang="en-US" sz="1800" dirty="0"/>
                    </a:p>
                  </a:txBody>
                  <a:tcPr marL="101600" marR="101600" marT="76200" marB="76200" anchor="ctr">
                    <a:lnL w="6350" cap="flat" cmpd="sng" algn="ctr">
                      <a:solidFill>
                        <a:srgbClr val="DDE5E3"/>
                      </a:solidFill>
                      <a:prstDash val="solid"/>
                      <a:round/>
                      <a:headEnd type="none" w="med" len="med"/>
                      <a:tailEnd type="none" w="med" len="med"/>
                    </a:lnL>
                    <a:lnR w="6350" cap="flat" cmpd="sng" algn="ctr">
                      <a:solidFill>
                        <a:srgbClr val="DDE5E3"/>
                      </a:solidFill>
                      <a:prstDash val="solid"/>
                      <a:round/>
                      <a:headEnd type="none" w="med" len="med"/>
                      <a:tailEnd type="none" w="med" len="med"/>
                    </a:lnR>
                    <a:lnT w="6350" cap="flat" cmpd="sng" algn="ctr">
                      <a:solidFill>
                        <a:srgbClr val="DDE5E3"/>
                      </a:solidFill>
                      <a:prstDash val="solid"/>
                      <a:round/>
                      <a:headEnd type="none" w="med" len="med"/>
                      <a:tailEnd type="none" w="med" len="med"/>
                    </a:lnT>
                    <a:lnB w="6350" cap="flat" cmpd="sng" algn="ctr">
                      <a:solidFill>
                        <a:srgbClr val="DDE5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41960">
                <a:tc>
                  <a:txBody>
                    <a:bodyPr/>
                    <a:lstStyle/>
                    <a:p>
                      <a:pPr marL="0" indent="0">
                        <a:buNone/>
                      </a:pPr>
                      <a:r>
                        <a:rPr lang="en-US" sz="1800" dirty="0">
                          <a:solidFill>
                            <a:srgbClr val="1B2A4A"/>
                          </a:solidFill>
                        </a:rPr>
                        <a:t>Service or Maintenance Personnel</a:t>
                      </a:r>
                      <a:endParaRPr lang="en-US" sz="1800" dirty="0"/>
                    </a:p>
                  </a:txBody>
                  <a:tcPr marL="101600" marR="101600" marT="76200" marB="76200" anchor="ctr">
                    <a:lnL w="6350" cap="flat" cmpd="sng" algn="ctr">
                      <a:solidFill>
                        <a:srgbClr val="DDE5E3"/>
                      </a:solidFill>
                      <a:prstDash val="solid"/>
                      <a:round/>
                      <a:headEnd type="none" w="med" len="med"/>
                      <a:tailEnd type="none" w="med" len="med"/>
                    </a:lnL>
                    <a:lnR w="6350" cap="flat" cmpd="sng" algn="ctr">
                      <a:solidFill>
                        <a:srgbClr val="DDE5E3"/>
                      </a:solidFill>
                      <a:prstDash val="solid"/>
                      <a:round/>
                      <a:headEnd type="none" w="med" len="med"/>
                      <a:tailEnd type="none" w="med" len="med"/>
                    </a:lnR>
                    <a:lnT w="6350" cap="flat" cmpd="sng" algn="ctr">
                      <a:solidFill>
                        <a:srgbClr val="DDE5E3"/>
                      </a:solidFill>
                      <a:prstDash val="solid"/>
                      <a:round/>
                      <a:headEnd type="none" w="med" len="med"/>
                      <a:tailEnd type="none" w="med" len="med"/>
                    </a:lnT>
                    <a:lnB w="6350" cap="flat" cmpd="sng" algn="ctr">
                      <a:solidFill>
                        <a:srgbClr val="DDE5E3"/>
                      </a:solidFill>
                      <a:prstDash val="solid"/>
                      <a:round/>
                      <a:headEnd type="none" w="med" len="med"/>
                      <a:tailEnd type="none" w="med" len="med"/>
                    </a:lnB>
                    <a:solidFill>
                      <a:srgbClr val="F4F7F6"/>
                    </a:solidFill>
                  </a:tcPr>
                </a:tc>
                <a:tc>
                  <a:txBody>
                    <a:bodyPr/>
                    <a:lstStyle/>
                    <a:p>
                      <a:pPr marL="0" indent="0">
                        <a:buNone/>
                      </a:pPr>
                      <a:r>
                        <a:rPr lang="en-US" sz="1800" dirty="0">
                          <a:solidFill>
                            <a:srgbClr val="1B2A4A"/>
                          </a:solidFill>
                        </a:rPr>
                        <a:t>Maintains or repairs the product</a:t>
                      </a:r>
                      <a:endParaRPr lang="en-US" sz="1800" dirty="0"/>
                    </a:p>
                  </a:txBody>
                  <a:tcPr marL="101600" marR="101600" marT="76200" marB="76200" anchor="ctr">
                    <a:lnL w="6350" cap="flat" cmpd="sng" algn="ctr">
                      <a:solidFill>
                        <a:srgbClr val="DDE5E3"/>
                      </a:solidFill>
                      <a:prstDash val="solid"/>
                      <a:round/>
                      <a:headEnd type="none" w="med" len="med"/>
                      <a:tailEnd type="none" w="med" len="med"/>
                    </a:lnL>
                    <a:lnR w="6350" cap="flat" cmpd="sng" algn="ctr">
                      <a:solidFill>
                        <a:srgbClr val="DDE5E3"/>
                      </a:solidFill>
                      <a:prstDash val="solid"/>
                      <a:round/>
                      <a:headEnd type="none" w="med" len="med"/>
                      <a:tailEnd type="none" w="med" len="med"/>
                    </a:lnR>
                    <a:lnT w="6350" cap="flat" cmpd="sng" algn="ctr">
                      <a:solidFill>
                        <a:srgbClr val="DDE5E3"/>
                      </a:solidFill>
                      <a:prstDash val="solid"/>
                      <a:round/>
                      <a:headEnd type="none" w="med" len="med"/>
                      <a:tailEnd type="none" w="med" len="med"/>
                    </a:lnT>
                    <a:lnB w="6350" cap="flat" cmpd="sng" algn="ctr">
                      <a:solidFill>
                        <a:srgbClr val="DDE5E3"/>
                      </a:solidFill>
                      <a:prstDash val="solid"/>
                      <a:round/>
                      <a:headEnd type="none" w="med" len="med"/>
                      <a:tailEnd type="none" w="med" len="med"/>
                    </a:lnB>
                    <a:solidFill>
                      <a:srgbClr val="F4F7F6"/>
                    </a:solidFill>
                  </a:tcPr>
                </a:tc>
                <a:extLst>
                  <a:ext uri="{0D108BD9-81ED-4DB2-BD59-A6C34878D82A}">
                    <a16:rowId xmlns:a16="http://schemas.microsoft.com/office/drawing/2014/main" val="10004"/>
                  </a:ext>
                </a:extLst>
              </a:tr>
              <a:tr h="441960">
                <a:tc>
                  <a:txBody>
                    <a:bodyPr/>
                    <a:lstStyle/>
                    <a:p>
                      <a:pPr marL="0" indent="0">
                        <a:buNone/>
                      </a:pPr>
                      <a:r>
                        <a:rPr lang="en-US" sz="1800" dirty="0">
                          <a:solidFill>
                            <a:srgbClr val="1B2A4A"/>
                          </a:solidFill>
                        </a:rPr>
                        <a:t>Domain Expert</a:t>
                      </a:r>
                      <a:endParaRPr lang="en-US" sz="1800" dirty="0"/>
                    </a:p>
                  </a:txBody>
                  <a:tcPr marL="101600" marR="101600" marT="76200" marB="76200" anchor="ctr">
                    <a:lnL w="6350" cap="flat" cmpd="sng" algn="ctr">
                      <a:solidFill>
                        <a:srgbClr val="DDE5E3"/>
                      </a:solidFill>
                      <a:prstDash val="solid"/>
                      <a:round/>
                      <a:headEnd type="none" w="med" len="med"/>
                      <a:tailEnd type="none" w="med" len="med"/>
                    </a:lnL>
                    <a:lnR w="6350" cap="flat" cmpd="sng" algn="ctr">
                      <a:solidFill>
                        <a:srgbClr val="DDE5E3"/>
                      </a:solidFill>
                      <a:prstDash val="solid"/>
                      <a:round/>
                      <a:headEnd type="none" w="med" len="med"/>
                      <a:tailEnd type="none" w="med" len="med"/>
                    </a:lnR>
                    <a:lnT w="6350" cap="flat" cmpd="sng" algn="ctr">
                      <a:solidFill>
                        <a:srgbClr val="DDE5E3"/>
                      </a:solidFill>
                      <a:prstDash val="solid"/>
                      <a:round/>
                      <a:headEnd type="none" w="med" len="med"/>
                      <a:tailEnd type="none" w="med" len="med"/>
                    </a:lnT>
                    <a:lnB w="6350" cap="flat" cmpd="sng" algn="ctr">
                      <a:solidFill>
                        <a:srgbClr val="DDE5E3"/>
                      </a:solidFill>
                      <a:prstDash val="solid"/>
                      <a:round/>
                      <a:headEnd type="none" w="med" len="med"/>
                      <a:tailEnd type="none" w="med" len="med"/>
                    </a:lnB>
                    <a:solidFill>
                      <a:srgbClr val="FFFFFF"/>
                    </a:solidFill>
                  </a:tcPr>
                </a:tc>
                <a:tc>
                  <a:txBody>
                    <a:bodyPr/>
                    <a:lstStyle/>
                    <a:p>
                      <a:pPr marL="0" indent="0">
                        <a:buNone/>
                      </a:pPr>
                      <a:r>
                        <a:rPr lang="en-US" sz="1800" dirty="0">
                          <a:solidFill>
                            <a:srgbClr val="1B2A4A"/>
                          </a:solidFill>
                        </a:rPr>
                        <a:t>Provides technical or professional insights</a:t>
                      </a:r>
                      <a:endParaRPr lang="en-US" sz="1800" dirty="0"/>
                    </a:p>
                  </a:txBody>
                  <a:tcPr marL="101600" marR="101600" marT="76200" marB="76200" anchor="ctr">
                    <a:lnL w="6350" cap="flat" cmpd="sng" algn="ctr">
                      <a:solidFill>
                        <a:srgbClr val="DDE5E3"/>
                      </a:solidFill>
                      <a:prstDash val="solid"/>
                      <a:round/>
                      <a:headEnd type="none" w="med" len="med"/>
                      <a:tailEnd type="none" w="med" len="med"/>
                    </a:lnL>
                    <a:lnR w="6350" cap="flat" cmpd="sng" algn="ctr">
                      <a:solidFill>
                        <a:srgbClr val="DDE5E3"/>
                      </a:solidFill>
                      <a:prstDash val="solid"/>
                      <a:round/>
                      <a:headEnd type="none" w="med" len="med"/>
                      <a:tailEnd type="none" w="med" len="med"/>
                    </a:lnR>
                    <a:lnT w="6350" cap="flat" cmpd="sng" algn="ctr">
                      <a:solidFill>
                        <a:srgbClr val="DDE5E3"/>
                      </a:solidFill>
                      <a:prstDash val="solid"/>
                      <a:round/>
                      <a:headEnd type="none" w="med" len="med"/>
                      <a:tailEnd type="none" w="med" len="med"/>
                    </a:lnT>
                    <a:lnB w="6350" cap="flat" cmpd="sng" algn="ctr">
                      <a:solidFill>
                        <a:srgbClr val="DDE5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 name="Shape 2"/>
          <p:cNvSpPr/>
          <p:nvPr/>
        </p:nvSpPr>
        <p:spPr>
          <a:xfrm>
            <a:off x="7498080" y="1737360"/>
            <a:ext cx="3840480" cy="2651760"/>
          </a:xfrm>
          <a:prstGeom prst="roundRect">
            <a:avLst>
              <a:gd name="adj" fmla="val 2759"/>
            </a:avLst>
          </a:prstGeom>
          <a:solidFill>
            <a:srgbClr val="F4F7F6"/>
          </a:solidFill>
          <a:ln/>
          <a:effectLst>
            <a:outerShdw blurRad="101600" dist="38100" dir="2700000" algn="bl" rotWithShape="0">
              <a:srgbClr val="000000">
                <a:alpha val="12000"/>
              </a:srgbClr>
            </a:outerShdw>
          </a:effectLst>
        </p:spPr>
      </p:sp>
      <p:sp>
        <p:nvSpPr>
          <p:cNvPr id="6" name="Shape 3"/>
          <p:cNvSpPr/>
          <p:nvPr/>
        </p:nvSpPr>
        <p:spPr>
          <a:xfrm>
            <a:off x="7818120" y="2011680"/>
            <a:ext cx="640080" cy="640080"/>
          </a:xfrm>
          <a:prstGeom prst="ellipse">
            <a:avLst/>
          </a:prstGeom>
          <a:solidFill>
            <a:srgbClr val="028090"/>
          </a:solidFill>
          <a:ln/>
        </p:spPr>
      </p:sp>
      <p:pic>
        <p:nvPicPr>
          <p:cNvPr id="7" name="Image 0" descr="preencoded.png"/>
          <p:cNvPicPr>
            <a:picLocks noChangeAspect="1"/>
          </p:cNvPicPr>
          <p:nvPr/>
        </p:nvPicPr>
        <p:blipFill>
          <a:blip r:embed="rId3"/>
          <a:stretch>
            <a:fillRect/>
          </a:stretch>
        </p:blipFill>
        <p:spPr>
          <a:xfrm>
            <a:off x="7971739" y="2165299"/>
            <a:ext cx="332842" cy="332842"/>
          </a:xfrm>
          <a:prstGeom prst="rect">
            <a:avLst/>
          </a:prstGeom>
        </p:spPr>
      </p:pic>
      <p:sp>
        <p:nvSpPr>
          <p:cNvPr id="8" name="Text 4"/>
          <p:cNvSpPr/>
          <p:nvPr/>
        </p:nvSpPr>
        <p:spPr>
          <a:xfrm>
            <a:off x="7772400" y="2788920"/>
            <a:ext cx="3291840" cy="1463040"/>
          </a:xfrm>
          <a:prstGeom prst="rect">
            <a:avLst/>
          </a:prstGeom>
          <a:noFill/>
          <a:ln/>
        </p:spPr>
        <p:txBody>
          <a:bodyPr wrap="square" lIns="0" tIns="0" rIns="0" bIns="0" rtlCol="0" anchor="t"/>
          <a:lstStyle/>
          <a:p>
            <a:pPr marL="0" indent="0">
              <a:buNone/>
            </a:pPr>
            <a:r>
              <a:rPr lang="en-US" dirty="0">
                <a:solidFill>
                  <a:srgbClr val="1B2A4A"/>
                </a:solidFill>
                <a:latin typeface="Calibri" pitchFamily="34" charset="0"/>
                <a:ea typeface="Calibri" pitchFamily="34" charset="-122"/>
                <a:cs typeface="Calibri" pitchFamily="34" charset="-120"/>
              </a:rPr>
              <a:t>Not every project requires interviewing all stakeholder groups. Select the people most relevant to your project.</a:t>
            </a:r>
            <a:endParaRPr lang="en-US" dirty="0"/>
          </a:p>
        </p:txBody>
      </p:sp>
      <p:sp>
        <p:nvSpPr>
          <p:cNvPr id="9" name="Shape 5"/>
          <p:cNvSpPr/>
          <p:nvPr/>
        </p:nvSpPr>
        <p:spPr>
          <a:xfrm>
            <a:off x="548640" y="5680477"/>
            <a:ext cx="10789920" cy="777240"/>
          </a:xfrm>
          <a:prstGeom prst="roundRect">
            <a:avLst>
              <a:gd name="adj" fmla="val 9412"/>
            </a:avLst>
          </a:prstGeom>
          <a:solidFill>
            <a:srgbClr val="00A896"/>
          </a:solidFill>
          <a:ln/>
        </p:spPr>
      </p:sp>
      <p:sp>
        <p:nvSpPr>
          <p:cNvPr id="10" name="Text 6"/>
          <p:cNvSpPr/>
          <p:nvPr/>
        </p:nvSpPr>
        <p:spPr>
          <a:xfrm>
            <a:off x="822960" y="5680477"/>
            <a:ext cx="10241280" cy="77724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Key Message: Choose respondents who can provide meaningful insights.</a:t>
            </a:r>
            <a:endParaRPr lang="en-US" sz="1500" dirty="0"/>
          </a:p>
        </p:txBody>
      </p:sp>
      <p:sp>
        <p:nvSpPr>
          <p:cNvPr id="11" name="Text 7"/>
          <p:cNvSpPr/>
          <p:nvPr/>
        </p:nvSpPr>
        <p:spPr>
          <a:xfrm>
            <a:off x="11521440" y="6446520"/>
            <a:ext cx="548640" cy="274320"/>
          </a:xfrm>
          <a:prstGeom prst="rect">
            <a:avLst/>
          </a:prstGeom>
          <a:noFill/>
          <a:ln/>
        </p:spPr>
        <p:txBody>
          <a:bodyPr wrap="square" rtlCol="0" anchor="ctr"/>
          <a:lstStyle/>
          <a:p>
            <a:pPr marL="0" indent="0" algn="r">
              <a:buNone/>
            </a:pPr>
            <a:r>
              <a:rPr lang="en-US" sz="1000" dirty="0">
                <a:solidFill>
                  <a:srgbClr val="9AA7B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73152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Planning the Survey</a:t>
            </a:r>
            <a:endParaRPr lang="en-US" sz="3200" dirty="0"/>
          </a:p>
        </p:txBody>
      </p:sp>
      <p:sp>
        <p:nvSpPr>
          <p:cNvPr id="3" name="Text 1"/>
          <p:cNvSpPr/>
          <p:nvPr/>
        </p:nvSpPr>
        <p:spPr>
          <a:xfrm>
            <a:off x="548640" y="1280160"/>
            <a:ext cx="10058400" cy="365760"/>
          </a:xfrm>
          <a:prstGeom prst="rect">
            <a:avLst/>
          </a:prstGeom>
          <a:noFill/>
          <a:ln/>
        </p:spPr>
        <p:txBody>
          <a:bodyPr wrap="square" lIns="0" tIns="0" rIns="0" bIns="0" rtlCol="0" anchor="ctr"/>
          <a:lstStyle/>
          <a:p>
            <a:pPr marL="0" indent="0">
              <a:buNone/>
            </a:pPr>
            <a:r>
              <a:rPr lang="en-US" dirty="0">
                <a:solidFill>
                  <a:srgbClr val="1B2A4A"/>
                </a:solidFill>
                <a:latin typeface="Calibri" pitchFamily="34" charset="0"/>
                <a:ea typeface="Calibri" pitchFamily="34" charset="-122"/>
                <a:cs typeface="Calibri" pitchFamily="34" charset="-120"/>
              </a:rPr>
              <a:t>Before meeting customers, clearly define:</a:t>
            </a:r>
            <a:endParaRPr lang="en-US" dirty="0"/>
          </a:p>
        </p:txBody>
      </p:sp>
      <p:sp>
        <p:nvSpPr>
          <p:cNvPr id="4" name="Shape 2"/>
          <p:cNvSpPr/>
          <p:nvPr/>
        </p:nvSpPr>
        <p:spPr>
          <a:xfrm>
            <a:off x="548640" y="1783080"/>
            <a:ext cx="365760" cy="365760"/>
          </a:xfrm>
          <a:prstGeom prst="ellipse">
            <a:avLst/>
          </a:prstGeom>
          <a:solidFill>
            <a:srgbClr val="028090"/>
          </a:solidFill>
          <a:ln/>
        </p:spPr>
      </p:sp>
      <p:pic>
        <p:nvPicPr>
          <p:cNvPr id="5" name="Image 0" descr="preencoded.png"/>
          <p:cNvPicPr>
            <a:picLocks noChangeAspect="1"/>
          </p:cNvPicPr>
          <p:nvPr/>
        </p:nvPicPr>
        <p:blipFill>
          <a:blip r:embed="rId3"/>
          <a:stretch>
            <a:fillRect/>
          </a:stretch>
        </p:blipFill>
        <p:spPr>
          <a:xfrm>
            <a:off x="612648" y="1847088"/>
            <a:ext cx="237744" cy="237744"/>
          </a:xfrm>
          <a:prstGeom prst="rect">
            <a:avLst/>
          </a:prstGeom>
        </p:spPr>
      </p:pic>
      <p:sp>
        <p:nvSpPr>
          <p:cNvPr id="6" name="Text 3"/>
          <p:cNvSpPr/>
          <p:nvPr/>
        </p:nvSpPr>
        <p:spPr>
          <a:xfrm>
            <a:off x="1097280" y="1737360"/>
            <a:ext cx="5486400" cy="457200"/>
          </a:xfrm>
          <a:prstGeom prst="rect">
            <a:avLst/>
          </a:prstGeom>
          <a:noFill/>
          <a:ln/>
        </p:spPr>
        <p:txBody>
          <a:bodyPr wrap="square" lIns="0" tIns="0" rIns="0" bIns="0" rtlCol="0" anchor="ctr"/>
          <a:lstStyle/>
          <a:p>
            <a:pPr marL="0" indent="0">
              <a:buNone/>
            </a:pPr>
            <a:r>
              <a:rPr lang="en-US" dirty="0">
                <a:solidFill>
                  <a:srgbClr val="1B2A4A"/>
                </a:solidFill>
                <a:latin typeface="Calibri" pitchFamily="34" charset="0"/>
                <a:ea typeface="Calibri" pitchFamily="34" charset="-122"/>
                <a:cs typeface="Calibri" pitchFamily="34" charset="-120"/>
              </a:rPr>
              <a:t>Who will be interviewed?</a:t>
            </a:r>
            <a:endParaRPr lang="en-US" dirty="0"/>
          </a:p>
        </p:txBody>
      </p:sp>
      <p:sp>
        <p:nvSpPr>
          <p:cNvPr id="7" name="Shape 4"/>
          <p:cNvSpPr/>
          <p:nvPr/>
        </p:nvSpPr>
        <p:spPr>
          <a:xfrm>
            <a:off x="548640" y="2350008"/>
            <a:ext cx="365760" cy="365760"/>
          </a:xfrm>
          <a:prstGeom prst="ellipse">
            <a:avLst/>
          </a:prstGeom>
          <a:solidFill>
            <a:srgbClr val="028090"/>
          </a:solidFill>
          <a:ln/>
        </p:spPr>
      </p:sp>
      <p:pic>
        <p:nvPicPr>
          <p:cNvPr id="8" name="Image 1" descr="preencoded.png"/>
          <p:cNvPicPr>
            <a:picLocks noChangeAspect="1"/>
          </p:cNvPicPr>
          <p:nvPr/>
        </p:nvPicPr>
        <p:blipFill>
          <a:blip r:embed="rId3"/>
          <a:stretch>
            <a:fillRect/>
          </a:stretch>
        </p:blipFill>
        <p:spPr>
          <a:xfrm>
            <a:off x="612648" y="2414016"/>
            <a:ext cx="237744" cy="237744"/>
          </a:xfrm>
          <a:prstGeom prst="rect">
            <a:avLst/>
          </a:prstGeom>
        </p:spPr>
      </p:pic>
      <p:sp>
        <p:nvSpPr>
          <p:cNvPr id="9" name="Text 5"/>
          <p:cNvSpPr/>
          <p:nvPr/>
        </p:nvSpPr>
        <p:spPr>
          <a:xfrm>
            <a:off x="1097280" y="2304288"/>
            <a:ext cx="5486400" cy="457200"/>
          </a:xfrm>
          <a:prstGeom prst="rect">
            <a:avLst/>
          </a:prstGeom>
          <a:noFill/>
          <a:ln/>
        </p:spPr>
        <p:txBody>
          <a:bodyPr wrap="square" lIns="0" tIns="0" rIns="0" bIns="0" rtlCol="0" anchor="ctr"/>
          <a:lstStyle/>
          <a:p>
            <a:pPr marL="0" indent="0">
              <a:buNone/>
            </a:pPr>
            <a:r>
              <a:rPr lang="en-US" dirty="0">
                <a:solidFill>
                  <a:srgbClr val="1B2A4A"/>
                </a:solidFill>
                <a:latin typeface="Calibri" pitchFamily="34" charset="0"/>
                <a:ea typeface="Calibri" pitchFamily="34" charset="-122"/>
                <a:cs typeface="Calibri" pitchFamily="34" charset="-120"/>
              </a:rPr>
              <a:t>What information do we need?</a:t>
            </a:r>
            <a:endParaRPr lang="en-US" dirty="0"/>
          </a:p>
        </p:txBody>
      </p:sp>
      <p:sp>
        <p:nvSpPr>
          <p:cNvPr id="10" name="Shape 6"/>
          <p:cNvSpPr/>
          <p:nvPr/>
        </p:nvSpPr>
        <p:spPr>
          <a:xfrm>
            <a:off x="548640" y="2916936"/>
            <a:ext cx="365760" cy="365760"/>
          </a:xfrm>
          <a:prstGeom prst="ellipse">
            <a:avLst/>
          </a:prstGeom>
          <a:solidFill>
            <a:srgbClr val="028090"/>
          </a:solidFill>
          <a:ln/>
        </p:spPr>
      </p:sp>
      <p:pic>
        <p:nvPicPr>
          <p:cNvPr id="11" name="Image 2" descr="preencoded.png"/>
          <p:cNvPicPr>
            <a:picLocks noChangeAspect="1"/>
          </p:cNvPicPr>
          <p:nvPr/>
        </p:nvPicPr>
        <p:blipFill>
          <a:blip r:embed="rId3"/>
          <a:stretch>
            <a:fillRect/>
          </a:stretch>
        </p:blipFill>
        <p:spPr>
          <a:xfrm>
            <a:off x="612648" y="2980944"/>
            <a:ext cx="237744" cy="237744"/>
          </a:xfrm>
          <a:prstGeom prst="rect">
            <a:avLst/>
          </a:prstGeom>
        </p:spPr>
      </p:pic>
      <p:sp>
        <p:nvSpPr>
          <p:cNvPr id="12" name="Text 7"/>
          <p:cNvSpPr/>
          <p:nvPr/>
        </p:nvSpPr>
        <p:spPr>
          <a:xfrm>
            <a:off x="1097280" y="2871216"/>
            <a:ext cx="5486400" cy="457200"/>
          </a:xfrm>
          <a:prstGeom prst="rect">
            <a:avLst/>
          </a:prstGeom>
          <a:noFill/>
          <a:ln/>
        </p:spPr>
        <p:txBody>
          <a:bodyPr wrap="square" lIns="0" tIns="0" rIns="0" bIns="0" rtlCol="0" anchor="ctr"/>
          <a:lstStyle/>
          <a:p>
            <a:pPr marL="0" indent="0">
              <a:buNone/>
            </a:pPr>
            <a:r>
              <a:rPr lang="en-US" dirty="0">
                <a:solidFill>
                  <a:srgbClr val="1B2A4A"/>
                </a:solidFill>
                <a:latin typeface="Calibri" pitchFamily="34" charset="0"/>
                <a:ea typeface="Calibri" pitchFamily="34" charset="-122"/>
                <a:cs typeface="Calibri" pitchFamily="34" charset="-120"/>
              </a:rPr>
              <a:t>How will we record the responses?</a:t>
            </a:r>
            <a:endParaRPr lang="en-US" dirty="0"/>
          </a:p>
        </p:txBody>
      </p:sp>
      <p:sp>
        <p:nvSpPr>
          <p:cNvPr id="13" name="Shape 8"/>
          <p:cNvSpPr/>
          <p:nvPr/>
        </p:nvSpPr>
        <p:spPr>
          <a:xfrm>
            <a:off x="548640" y="3483864"/>
            <a:ext cx="365760" cy="365760"/>
          </a:xfrm>
          <a:prstGeom prst="ellipse">
            <a:avLst/>
          </a:prstGeom>
          <a:solidFill>
            <a:srgbClr val="028090"/>
          </a:solidFill>
          <a:ln/>
        </p:spPr>
      </p:sp>
      <p:pic>
        <p:nvPicPr>
          <p:cNvPr id="14" name="Image 3" descr="preencoded.png"/>
          <p:cNvPicPr>
            <a:picLocks noChangeAspect="1"/>
          </p:cNvPicPr>
          <p:nvPr/>
        </p:nvPicPr>
        <p:blipFill>
          <a:blip r:embed="rId3"/>
          <a:stretch>
            <a:fillRect/>
          </a:stretch>
        </p:blipFill>
        <p:spPr>
          <a:xfrm>
            <a:off x="612648" y="3547872"/>
            <a:ext cx="237744" cy="237744"/>
          </a:xfrm>
          <a:prstGeom prst="rect">
            <a:avLst/>
          </a:prstGeom>
        </p:spPr>
      </p:pic>
      <p:sp>
        <p:nvSpPr>
          <p:cNvPr id="15" name="Text 9"/>
          <p:cNvSpPr/>
          <p:nvPr/>
        </p:nvSpPr>
        <p:spPr>
          <a:xfrm>
            <a:off x="1097280" y="3438144"/>
            <a:ext cx="5486400" cy="457200"/>
          </a:xfrm>
          <a:prstGeom prst="rect">
            <a:avLst/>
          </a:prstGeom>
          <a:noFill/>
          <a:ln/>
        </p:spPr>
        <p:txBody>
          <a:bodyPr wrap="square" lIns="0" tIns="0" rIns="0" bIns="0" rtlCol="0" anchor="ctr"/>
          <a:lstStyle/>
          <a:p>
            <a:pPr marL="0" indent="0">
              <a:buNone/>
            </a:pPr>
            <a:r>
              <a:rPr lang="en-US" dirty="0">
                <a:solidFill>
                  <a:srgbClr val="1B2A4A"/>
                </a:solidFill>
                <a:latin typeface="Calibri" pitchFamily="34" charset="0"/>
                <a:ea typeface="Calibri" pitchFamily="34" charset="-122"/>
                <a:cs typeface="Calibri" pitchFamily="34" charset="-120"/>
              </a:rPr>
              <a:t>Will we demonstrate the prototype?</a:t>
            </a:r>
            <a:endParaRPr lang="en-US" dirty="0"/>
          </a:p>
        </p:txBody>
      </p:sp>
      <p:sp>
        <p:nvSpPr>
          <p:cNvPr id="16" name="Shape 10"/>
          <p:cNvSpPr/>
          <p:nvPr/>
        </p:nvSpPr>
        <p:spPr>
          <a:xfrm>
            <a:off x="548640" y="4050792"/>
            <a:ext cx="365760" cy="365760"/>
          </a:xfrm>
          <a:prstGeom prst="ellipse">
            <a:avLst/>
          </a:prstGeom>
          <a:solidFill>
            <a:srgbClr val="028090"/>
          </a:solidFill>
          <a:ln/>
        </p:spPr>
      </p:sp>
      <p:pic>
        <p:nvPicPr>
          <p:cNvPr id="17" name="Image 4" descr="preencoded.png"/>
          <p:cNvPicPr>
            <a:picLocks noChangeAspect="1"/>
          </p:cNvPicPr>
          <p:nvPr/>
        </p:nvPicPr>
        <p:blipFill>
          <a:blip r:embed="rId3"/>
          <a:stretch>
            <a:fillRect/>
          </a:stretch>
        </p:blipFill>
        <p:spPr>
          <a:xfrm>
            <a:off x="612648" y="4114800"/>
            <a:ext cx="237744" cy="237744"/>
          </a:xfrm>
          <a:prstGeom prst="rect">
            <a:avLst/>
          </a:prstGeom>
        </p:spPr>
      </p:pic>
      <p:sp>
        <p:nvSpPr>
          <p:cNvPr id="18" name="Text 11"/>
          <p:cNvSpPr/>
          <p:nvPr/>
        </p:nvSpPr>
        <p:spPr>
          <a:xfrm>
            <a:off x="1097280" y="4005072"/>
            <a:ext cx="5486400" cy="457200"/>
          </a:xfrm>
          <a:prstGeom prst="rect">
            <a:avLst/>
          </a:prstGeom>
          <a:noFill/>
          <a:ln/>
        </p:spPr>
        <p:txBody>
          <a:bodyPr wrap="square" lIns="0" tIns="0" rIns="0" bIns="0" rtlCol="0" anchor="ctr"/>
          <a:lstStyle/>
          <a:p>
            <a:pPr marL="0" indent="0">
              <a:buNone/>
            </a:pPr>
            <a:r>
              <a:rPr lang="en-US" dirty="0">
                <a:solidFill>
                  <a:srgbClr val="1B2A4A"/>
                </a:solidFill>
                <a:latin typeface="Calibri" pitchFamily="34" charset="0"/>
                <a:ea typeface="Calibri" pitchFamily="34" charset="-122"/>
                <a:cs typeface="Calibri" pitchFamily="34" charset="-120"/>
              </a:rPr>
              <a:t>How many interviews will be conducted?</a:t>
            </a:r>
            <a:endParaRPr lang="en-US" dirty="0"/>
          </a:p>
        </p:txBody>
      </p:sp>
      <p:sp>
        <p:nvSpPr>
          <p:cNvPr id="19" name="Text 12"/>
          <p:cNvSpPr/>
          <p:nvPr/>
        </p:nvSpPr>
        <p:spPr>
          <a:xfrm>
            <a:off x="548640" y="4709160"/>
            <a:ext cx="6126480" cy="457200"/>
          </a:xfrm>
          <a:prstGeom prst="rect">
            <a:avLst/>
          </a:prstGeom>
          <a:noFill/>
          <a:ln/>
        </p:spPr>
        <p:txBody>
          <a:bodyPr wrap="square" lIns="0" tIns="0" rIns="0" bIns="0" rtlCol="0" anchor="ctr"/>
          <a:lstStyle/>
          <a:p>
            <a:pPr marL="0" indent="0">
              <a:buNone/>
            </a:pPr>
            <a:r>
              <a:rPr lang="en-US" i="1" dirty="0">
                <a:solidFill>
                  <a:srgbClr val="5C6B7A"/>
                </a:solidFill>
                <a:latin typeface="Cambria" pitchFamily="34" charset="0"/>
                <a:ea typeface="Cambria" pitchFamily="34" charset="-122"/>
                <a:cs typeface="Cambria" pitchFamily="34" charset="-120"/>
              </a:rPr>
              <a:t>A well-planned survey produces more reliable insights.</a:t>
            </a:r>
            <a:endParaRPr lang="en-US" dirty="0"/>
          </a:p>
        </p:txBody>
      </p:sp>
      <p:sp>
        <p:nvSpPr>
          <p:cNvPr id="20" name="Shape 13"/>
          <p:cNvSpPr/>
          <p:nvPr/>
        </p:nvSpPr>
        <p:spPr>
          <a:xfrm>
            <a:off x="7223760" y="1783080"/>
            <a:ext cx="4114800" cy="3383280"/>
          </a:xfrm>
          <a:prstGeom prst="roundRect">
            <a:avLst>
              <a:gd name="adj" fmla="val 2703"/>
            </a:avLst>
          </a:prstGeom>
          <a:solidFill>
            <a:srgbClr val="1B2A4A"/>
          </a:solidFill>
          <a:ln/>
          <a:effectLst>
            <a:outerShdw blurRad="101600" dist="38100" dir="2700000" algn="bl" rotWithShape="0">
              <a:srgbClr val="000000">
                <a:alpha val="12000"/>
              </a:srgbClr>
            </a:outerShdw>
          </a:effectLst>
        </p:spPr>
      </p:sp>
      <p:sp>
        <p:nvSpPr>
          <p:cNvPr id="21" name="Shape 14"/>
          <p:cNvSpPr/>
          <p:nvPr/>
        </p:nvSpPr>
        <p:spPr>
          <a:xfrm>
            <a:off x="7589520" y="2103120"/>
            <a:ext cx="777240" cy="777240"/>
          </a:xfrm>
          <a:prstGeom prst="ellipse">
            <a:avLst/>
          </a:prstGeom>
          <a:solidFill>
            <a:srgbClr val="028090"/>
          </a:solidFill>
          <a:ln/>
        </p:spPr>
      </p:sp>
      <p:pic>
        <p:nvPicPr>
          <p:cNvPr id="22" name="Image 5" descr="preencoded.png"/>
          <p:cNvPicPr>
            <a:picLocks noChangeAspect="1"/>
          </p:cNvPicPr>
          <p:nvPr/>
        </p:nvPicPr>
        <p:blipFill>
          <a:blip r:embed="rId4"/>
          <a:stretch>
            <a:fillRect/>
          </a:stretch>
        </p:blipFill>
        <p:spPr>
          <a:xfrm>
            <a:off x="7776058" y="2289658"/>
            <a:ext cx="404165" cy="404165"/>
          </a:xfrm>
          <a:prstGeom prst="rect">
            <a:avLst/>
          </a:prstGeom>
        </p:spPr>
      </p:pic>
      <p:sp>
        <p:nvSpPr>
          <p:cNvPr id="23" name="Text 15"/>
          <p:cNvSpPr/>
          <p:nvPr/>
        </p:nvSpPr>
        <p:spPr>
          <a:xfrm>
            <a:off x="7589520" y="3017520"/>
            <a:ext cx="3383280" cy="365760"/>
          </a:xfrm>
          <a:prstGeom prst="rect">
            <a:avLst/>
          </a:prstGeom>
          <a:noFill/>
          <a:ln/>
        </p:spPr>
        <p:txBody>
          <a:bodyPr wrap="square" lIns="0" tIns="0" rIns="0" bIns="0" rtlCol="0" anchor="ctr"/>
          <a:lstStyle/>
          <a:p>
            <a:pPr marL="0" indent="0">
              <a:buNone/>
            </a:pPr>
            <a:r>
              <a:rPr lang="en-US" b="1" dirty="0">
                <a:solidFill>
                  <a:srgbClr val="00A896"/>
                </a:solidFill>
                <a:latin typeface="Calibri" pitchFamily="34" charset="0"/>
                <a:ea typeface="Calibri" pitchFamily="34" charset="-122"/>
                <a:cs typeface="Calibri" pitchFamily="34" charset="-120"/>
              </a:rPr>
              <a:t>Recommendation</a:t>
            </a:r>
            <a:endParaRPr lang="en-US" dirty="0"/>
          </a:p>
        </p:txBody>
      </p:sp>
      <p:sp>
        <p:nvSpPr>
          <p:cNvPr id="24" name="Text 16"/>
          <p:cNvSpPr/>
          <p:nvPr/>
        </p:nvSpPr>
        <p:spPr>
          <a:xfrm>
            <a:off x="7589520" y="3429000"/>
            <a:ext cx="3383280" cy="365760"/>
          </a:xfrm>
          <a:prstGeom prst="rect">
            <a:avLst/>
          </a:prstGeom>
          <a:noFill/>
          <a:ln/>
        </p:spPr>
        <p:txBody>
          <a:bodyPr wrap="square" lIns="0" tIns="0" rIns="0" bIns="0" rtlCol="0" anchor="ctr"/>
          <a:lstStyle/>
          <a:p>
            <a:pPr marL="0" indent="0">
              <a:buNone/>
            </a:pPr>
            <a:r>
              <a:rPr lang="en-US" dirty="0">
                <a:solidFill>
                  <a:srgbClr val="FFFFFF"/>
                </a:solidFill>
                <a:latin typeface="Calibri" pitchFamily="34" charset="0"/>
                <a:ea typeface="Calibri" pitchFamily="34" charset="-122"/>
                <a:cs typeface="Calibri" pitchFamily="34" charset="-120"/>
              </a:rPr>
              <a:t>Interview at least</a:t>
            </a:r>
            <a:endParaRPr lang="en-US" dirty="0"/>
          </a:p>
        </p:txBody>
      </p:sp>
      <p:sp>
        <p:nvSpPr>
          <p:cNvPr id="25" name="Text 17"/>
          <p:cNvSpPr/>
          <p:nvPr/>
        </p:nvSpPr>
        <p:spPr>
          <a:xfrm>
            <a:off x="7589520" y="3703320"/>
            <a:ext cx="3383280" cy="868680"/>
          </a:xfrm>
          <a:prstGeom prst="rect">
            <a:avLst/>
          </a:prstGeom>
          <a:noFill/>
          <a:ln/>
        </p:spPr>
        <p:txBody>
          <a:bodyPr wrap="square" lIns="0" tIns="0" rIns="0" bIns="0" rtlCol="0" anchor="ctr"/>
          <a:lstStyle/>
          <a:p>
            <a:pPr marL="0" indent="0">
              <a:buNone/>
            </a:pPr>
            <a:r>
              <a:rPr lang="en-US" sz="5000" b="1" dirty="0">
                <a:solidFill>
                  <a:srgbClr val="FFFFFF"/>
                </a:solidFill>
                <a:latin typeface="Cambria" pitchFamily="34" charset="0"/>
                <a:ea typeface="Cambria" pitchFamily="34" charset="-122"/>
                <a:cs typeface="Cambria" pitchFamily="34" charset="-120"/>
              </a:rPr>
              <a:t>20</a:t>
            </a:r>
            <a:endParaRPr lang="en-US" sz="5000" dirty="0"/>
          </a:p>
        </p:txBody>
      </p:sp>
      <p:sp>
        <p:nvSpPr>
          <p:cNvPr id="26" name="Text 18"/>
          <p:cNvSpPr/>
          <p:nvPr/>
        </p:nvSpPr>
        <p:spPr>
          <a:xfrm>
            <a:off x="7589520" y="4526280"/>
            <a:ext cx="3383280" cy="457200"/>
          </a:xfrm>
          <a:prstGeom prst="rect">
            <a:avLst/>
          </a:prstGeom>
          <a:noFill/>
          <a:ln/>
        </p:spPr>
        <p:txBody>
          <a:bodyPr wrap="square" lIns="0" tIns="0" rIns="0" bIns="0" rtlCol="0" anchor="ctr"/>
          <a:lstStyle/>
          <a:p>
            <a:pPr marL="0" indent="0">
              <a:buNone/>
            </a:pPr>
            <a:r>
              <a:rPr lang="en-US" dirty="0">
                <a:solidFill>
                  <a:srgbClr val="BFD9D6"/>
                </a:solidFill>
                <a:latin typeface="Calibri" pitchFamily="34" charset="0"/>
                <a:ea typeface="Calibri" pitchFamily="34" charset="-122"/>
                <a:cs typeface="Calibri" pitchFamily="34" charset="-120"/>
              </a:rPr>
              <a:t>potential customers or stakeholders</a:t>
            </a:r>
            <a:endParaRPr lang="en-US" dirty="0"/>
          </a:p>
        </p:txBody>
      </p:sp>
      <p:sp>
        <p:nvSpPr>
          <p:cNvPr id="27" name="Text 19"/>
          <p:cNvSpPr/>
          <p:nvPr/>
        </p:nvSpPr>
        <p:spPr>
          <a:xfrm>
            <a:off x="11521440" y="6446520"/>
            <a:ext cx="548640" cy="274320"/>
          </a:xfrm>
          <a:prstGeom prst="rect">
            <a:avLst/>
          </a:prstGeom>
          <a:noFill/>
          <a:ln/>
        </p:spPr>
        <p:txBody>
          <a:bodyPr wrap="square" rtlCol="0" anchor="ctr"/>
          <a:lstStyle/>
          <a:p>
            <a:pPr marL="0" indent="0" algn="r">
              <a:buNone/>
            </a:pPr>
            <a:r>
              <a:rPr lang="en-US" sz="1000" dirty="0">
                <a:solidFill>
                  <a:srgbClr val="9AA7B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73152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Conducting the Customer Interaction</a:t>
            </a:r>
            <a:endParaRPr lang="en-US" sz="3200" dirty="0"/>
          </a:p>
        </p:txBody>
      </p:sp>
      <p:sp>
        <p:nvSpPr>
          <p:cNvPr id="3" name="Text 1"/>
          <p:cNvSpPr/>
          <p:nvPr/>
        </p:nvSpPr>
        <p:spPr>
          <a:xfrm>
            <a:off x="548640" y="1280160"/>
            <a:ext cx="10515600" cy="411480"/>
          </a:xfrm>
          <a:prstGeom prst="rect">
            <a:avLst/>
          </a:prstGeom>
          <a:noFill/>
          <a:ln/>
        </p:spPr>
        <p:txBody>
          <a:bodyPr wrap="square" lIns="0" tIns="0" rIns="0" bIns="0" rtlCol="0" anchor="ctr"/>
          <a:lstStyle/>
          <a:p>
            <a:pPr marL="0" indent="0">
              <a:buNone/>
            </a:pPr>
            <a:r>
              <a:rPr lang="en-US" dirty="0">
                <a:solidFill>
                  <a:srgbClr val="5C6B7A"/>
                </a:solidFill>
                <a:latin typeface="Calibri" pitchFamily="34" charset="0"/>
                <a:ea typeface="Calibri" pitchFamily="34" charset="-122"/>
                <a:cs typeface="Calibri" pitchFamily="34" charset="-120"/>
              </a:rPr>
              <a:t>Best conducted as a conversation rather than a formal questionnaire. Recommended sequence:</a:t>
            </a:r>
            <a:endParaRPr lang="en-US" dirty="0"/>
          </a:p>
        </p:txBody>
      </p:sp>
      <p:sp>
        <p:nvSpPr>
          <p:cNvPr id="4" name="Shape 2"/>
          <p:cNvSpPr/>
          <p:nvPr/>
        </p:nvSpPr>
        <p:spPr>
          <a:xfrm>
            <a:off x="548640" y="1920240"/>
            <a:ext cx="1691640" cy="2011680"/>
          </a:xfrm>
          <a:prstGeom prst="roundRect">
            <a:avLst>
              <a:gd name="adj" fmla="val 4324"/>
            </a:avLst>
          </a:prstGeom>
          <a:solidFill>
            <a:srgbClr val="028090"/>
          </a:solidFill>
          <a:ln/>
        </p:spPr>
      </p:sp>
      <p:sp>
        <p:nvSpPr>
          <p:cNvPr id="5" name="Text 3"/>
          <p:cNvSpPr/>
          <p:nvPr/>
        </p:nvSpPr>
        <p:spPr>
          <a:xfrm>
            <a:off x="548640" y="2057400"/>
            <a:ext cx="1691640"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6" name="Text 4"/>
          <p:cNvSpPr/>
          <p:nvPr/>
        </p:nvSpPr>
        <p:spPr>
          <a:xfrm>
            <a:off x="658368" y="2606040"/>
            <a:ext cx="1472184" cy="1234440"/>
          </a:xfrm>
          <a:prstGeom prst="rect">
            <a:avLst/>
          </a:prstGeom>
          <a:noFill/>
          <a:ln/>
        </p:spPr>
        <p:txBody>
          <a:bodyPr wrap="square" lIns="0" tIns="0" rIns="0" bIns="0" rtlCol="0" anchor="t"/>
          <a:lstStyle/>
          <a:p>
            <a:pPr marL="0" indent="0" algn="ctr">
              <a:buNone/>
            </a:pPr>
            <a:r>
              <a:rPr lang="en-US" dirty="0">
                <a:solidFill>
                  <a:srgbClr val="FFFFFF"/>
                </a:solidFill>
                <a:latin typeface="Calibri" pitchFamily="34" charset="0"/>
                <a:ea typeface="Calibri" pitchFamily="34" charset="-122"/>
                <a:cs typeface="Calibri" pitchFamily="34" charset="-120"/>
              </a:rPr>
              <a:t>Introduce yourself</a:t>
            </a:r>
            <a:endParaRPr lang="en-US" dirty="0"/>
          </a:p>
        </p:txBody>
      </p:sp>
      <p:pic>
        <p:nvPicPr>
          <p:cNvPr id="7" name="Image 0" descr="preencoded.png"/>
          <p:cNvPicPr>
            <a:picLocks noChangeAspect="1"/>
          </p:cNvPicPr>
          <p:nvPr/>
        </p:nvPicPr>
        <p:blipFill>
          <a:blip r:embed="rId3"/>
          <a:stretch>
            <a:fillRect/>
          </a:stretch>
        </p:blipFill>
        <p:spPr>
          <a:xfrm>
            <a:off x="2244852" y="2697480"/>
            <a:ext cx="137160" cy="457200"/>
          </a:xfrm>
          <a:prstGeom prst="rect">
            <a:avLst/>
          </a:prstGeom>
        </p:spPr>
      </p:pic>
      <p:sp>
        <p:nvSpPr>
          <p:cNvPr id="8" name="Shape 5"/>
          <p:cNvSpPr/>
          <p:nvPr/>
        </p:nvSpPr>
        <p:spPr>
          <a:xfrm>
            <a:off x="2359152" y="1920240"/>
            <a:ext cx="1691640" cy="2011680"/>
          </a:xfrm>
          <a:prstGeom prst="roundRect">
            <a:avLst>
              <a:gd name="adj" fmla="val 4324"/>
            </a:avLst>
          </a:prstGeom>
          <a:solidFill>
            <a:srgbClr val="00A896"/>
          </a:solidFill>
          <a:ln/>
        </p:spPr>
      </p:sp>
      <p:sp>
        <p:nvSpPr>
          <p:cNvPr id="9" name="Text 6"/>
          <p:cNvSpPr/>
          <p:nvPr/>
        </p:nvSpPr>
        <p:spPr>
          <a:xfrm>
            <a:off x="2359152" y="2057400"/>
            <a:ext cx="1691640"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0" name="Text 7"/>
          <p:cNvSpPr/>
          <p:nvPr/>
        </p:nvSpPr>
        <p:spPr>
          <a:xfrm>
            <a:off x="2468880" y="2606040"/>
            <a:ext cx="1472184" cy="1234440"/>
          </a:xfrm>
          <a:prstGeom prst="rect">
            <a:avLst/>
          </a:prstGeom>
          <a:noFill/>
          <a:ln/>
        </p:spPr>
        <p:txBody>
          <a:bodyPr wrap="square" lIns="0" tIns="0" rIns="0" bIns="0" rtlCol="0" anchor="t"/>
          <a:lstStyle/>
          <a:p>
            <a:pPr marL="0" indent="0" algn="ctr">
              <a:buNone/>
            </a:pPr>
            <a:r>
              <a:rPr lang="en-US" dirty="0">
                <a:solidFill>
                  <a:srgbClr val="FFFFFF"/>
                </a:solidFill>
                <a:latin typeface="Calibri" pitchFamily="34" charset="0"/>
                <a:ea typeface="Calibri" pitchFamily="34" charset="-122"/>
                <a:cs typeface="Calibri" pitchFamily="34" charset="-120"/>
              </a:rPr>
              <a:t>Explain the purpose</a:t>
            </a:r>
            <a:endParaRPr lang="en-US" dirty="0"/>
          </a:p>
        </p:txBody>
      </p:sp>
      <p:pic>
        <p:nvPicPr>
          <p:cNvPr id="11" name="Image 1" descr="preencoded.png"/>
          <p:cNvPicPr>
            <a:picLocks noChangeAspect="1"/>
          </p:cNvPicPr>
          <p:nvPr/>
        </p:nvPicPr>
        <p:blipFill>
          <a:blip r:embed="rId3"/>
          <a:stretch>
            <a:fillRect/>
          </a:stretch>
        </p:blipFill>
        <p:spPr>
          <a:xfrm>
            <a:off x="4055364" y="2697480"/>
            <a:ext cx="137160" cy="457200"/>
          </a:xfrm>
          <a:prstGeom prst="rect">
            <a:avLst/>
          </a:prstGeom>
        </p:spPr>
      </p:pic>
      <p:sp>
        <p:nvSpPr>
          <p:cNvPr id="12" name="Shape 8"/>
          <p:cNvSpPr/>
          <p:nvPr/>
        </p:nvSpPr>
        <p:spPr>
          <a:xfrm>
            <a:off x="4169664" y="1920240"/>
            <a:ext cx="1691640" cy="2011680"/>
          </a:xfrm>
          <a:prstGeom prst="roundRect">
            <a:avLst>
              <a:gd name="adj" fmla="val 4324"/>
            </a:avLst>
          </a:prstGeom>
          <a:solidFill>
            <a:srgbClr val="028090"/>
          </a:solidFill>
          <a:ln/>
        </p:spPr>
      </p:sp>
      <p:sp>
        <p:nvSpPr>
          <p:cNvPr id="13" name="Text 9"/>
          <p:cNvSpPr/>
          <p:nvPr/>
        </p:nvSpPr>
        <p:spPr>
          <a:xfrm>
            <a:off x="4169664" y="2057400"/>
            <a:ext cx="1691640"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4" name="Text 10"/>
          <p:cNvSpPr/>
          <p:nvPr/>
        </p:nvSpPr>
        <p:spPr>
          <a:xfrm>
            <a:off x="4279392" y="2606040"/>
            <a:ext cx="1472184" cy="1234440"/>
          </a:xfrm>
          <a:prstGeom prst="rect">
            <a:avLst/>
          </a:prstGeom>
          <a:noFill/>
          <a:ln/>
        </p:spPr>
        <p:txBody>
          <a:bodyPr wrap="square" lIns="0" tIns="0" rIns="0" bIns="0" rtlCol="0" anchor="t"/>
          <a:lstStyle/>
          <a:p>
            <a:pPr marL="0" indent="0" algn="ctr">
              <a:buNone/>
            </a:pPr>
            <a:r>
              <a:rPr lang="en-US" dirty="0">
                <a:solidFill>
                  <a:srgbClr val="FFFFFF"/>
                </a:solidFill>
                <a:latin typeface="Calibri" pitchFamily="34" charset="0"/>
                <a:ea typeface="Calibri" pitchFamily="34" charset="-122"/>
                <a:cs typeface="Calibri" pitchFamily="34" charset="-120"/>
              </a:rPr>
              <a:t>Understand current experience</a:t>
            </a:r>
            <a:endParaRPr lang="en-US" dirty="0"/>
          </a:p>
        </p:txBody>
      </p:sp>
      <p:pic>
        <p:nvPicPr>
          <p:cNvPr id="15" name="Image 2" descr="preencoded.png"/>
          <p:cNvPicPr>
            <a:picLocks noChangeAspect="1"/>
          </p:cNvPicPr>
          <p:nvPr/>
        </p:nvPicPr>
        <p:blipFill>
          <a:blip r:embed="rId3"/>
          <a:stretch>
            <a:fillRect/>
          </a:stretch>
        </p:blipFill>
        <p:spPr>
          <a:xfrm>
            <a:off x="5865876" y="2697480"/>
            <a:ext cx="137160" cy="457200"/>
          </a:xfrm>
          <a:prstGeom prst="rect">
            <a:avLst/>
          </a:prstGeom>
        </p:spPr>
      </p:pic>
      <p:sp>
        <p:nvSpPr>
          <p:cNvPr id="16" name="Shape 11"/>
          <p:cNvSpPr/>
          <p:nvPr/>
        </p:nvSpPr>
        <p:spPr>
          <a:xfrm>
            <a:off x="5980176" y="1920240"/>
            <a:ext cx="1691640" cy="2011680"/>
          </a:xfrm>
          <a:prstGeom prst="roundRect">
            <a:avLst>
              <a:gd name="adj" fmla="val 4324"/>
            </a:avLst>
          </a:prstGeom>
          <a:solidFill>
            <a:srgbClr val="00A896"/>
          </a:solidFill>
          <a:ln/>
        </p:spPr>
      </p:sp>
      <p:sp>
        <p:nvSpPr>
          <p:cNvPr id="17" name="Text 12"/>
          <p:cNvSpPr/>
          <p:nvPr/>
        </p:nvSpPr>
        <p:spPr>
          <a:xfrm>
            <a:off x="5980176" y="2057400"/>
            <a:ext cx="1691640"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18" name="Text 13"/>
          <p:cNvSpPr/>
          <p:nvPr/>
        </p:nvSpPr>
        <p:spPr>
          <a:xfrm>
            <a:off x="6089904" y="2606040"/>
            <a:ext cx="1472184" cy="1234440"/>
          </a:xfrm>
          <a:prstGeom prst="rect">
            <a:avLst/>
          </a:prstGeom>
          <a:noFill/>
          <a:ln/>
        </p:spPr>
        <p:txBody>
          <a:bodyPr wrap="square" lIns="0" tIns="0" rIns="0" bIns="0" rtlCol="0" anchor="t"/>
          <a:lstStyle/>
          <a:p>
            <a:pPr marL="0" indent="0" algn="ctr">
              <a:buNone/>
            </a:pPr>
            <a:r>
              <a:rPr lang="en-US" dirty="0">
                <a:solidFill>
                  <a:srgbClr val="FFFFFF"/>
                </a:solidFill>
                <a:latin typeface="Calibri" pitchFamily="34" charset="0"/>
                <a:ea typeface="Calibri" pitchFamily="34" charset="-122"/>
                <a:cs typeface="Calibri" pitchFamily="34" charset="-120"/>
              </a:rPr>
              <a:t>Demonstrate the prototype</a:t>
            </a:r>
            <a:endParaRPr lang="en-US" dirty="0"/>
          </a:p>
        </p:txBody>
      </p:sp>
      <p:pic>
        <p:nvPicPr>
          <p:cNvPr id="19" name="Image 3" descr="preencoded.png"/>
          <p:cNvPicPr>
            <a:picLocks noChangeAspect="1"/>
          </p:cNvPicPr>
          <p:nvPr/>
        </p:nvPicPr>
        <p:blipFill>
          <a:blip r:embed="rId3"/>
          <a:stretch>
            <a:fillRect/>
          </a:stretch>
        </p:blipFill>
        <p:spPr>
          <a:xfrm>
            <a:off x="7676388" y="2697480"/>
            <a:ext cx="137160" cy="457200"/>
          </a:xfrm>
          <a:prstGeom prst="rect">
            <a:avLst/>
          </a:prstGeom>
        </p:spPr>
      </p:pic>
      <p:sp>
        <p:nvSpPr>
          <p:cNvPr id="20" name="Shape 14"/>
          <p:cNvSpPr/>
          <p:nvPr/>
        </p:nvSpPr>
        <p:spPr>
          <a:xfrm>
            <a:off x="7790688" y="1920240"/>
            <a:ext cx="1691640" cy="2011680"/>
          </a:xfrm>
          <a:prstGeom prst="roundRect">
            <a:avLst>
              <a:gd name="adj" fmla="val 4324"/>
            </a:avLst>
          </a:prstGeom>
          <a:solidFill>
            <a:srgbClr val="028090"/>
          </a:solidFill>
          <a:ln/>
        </p:spPr>
      </p:sp>
      <p:sp>
        <p:nvSpPr>
          <p:cNvPr id="21" name="Text 15"/>
          <p:cNvSpPr/>
          <p:nvPr/>
        </p:nvSpPr>
        <p:spPr>
          <a:xfrm>
            <a:off x="7790688" y="2057400"/>
            <a:ext cx="1691640"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22" name="Text 16"/>
          <p:cNvSpPr/>
          <p:nvPr/>
        </p:nvSpPr>
        <p:spPr>
          <a:xfrm>
            <a:off x="7900416" y="2606040"/>
            <a:ext cx="1472184" cy="1234440"/>
          </a:xfrm>
          <a:prstGeom prst="rect">
            <a:avLst/>
          </a:prstGeom>
          <a:noFill/>
          <a:ln/>
        </p:spPr>
        <p:txBody>
          <a:bodyPr wrap="square" lIns="0" tIns="0" rIns="0" bIns="0" rtlCol="0" anchor="t"/>
          <a:lstStyle/>
          <a:p>
            <a:pPr marL="0" indent="0" algn="ctr">
              <a:buNone/>
            </a:pPr>
            <a:r>
              <a:rPr lang="en-US" dirty="0">
                <a:solidFill>
                  <a:srgbClr val="FFFFFF"/>
                </a:solidFill>
                <a:latin typeface="Calibri" pitchFamily="34" charset="0"/>
                <a:ea typeface="Calibri" pitchFamily="34" charset="-122"/>
                <a:cs typeface="Calibri" pitchFamily="34" charset="-120"/>
              </a:rPr>
              <a:t>Ask for honest feedback</a:t>
            </a:r>
            <a:endParaRPr lang="en-US" dirty="0"/>
          </a:p>
        </p:txBody>
      </p:sp>
      <p:pic>
        <p:nvPicPr>
          <p:cNvPr id="23" name="Image 4" descr="preencoded.png"/>
          <p:cNvPicPr>
            <a:picLocks noChangeAspect="1"/>
          </p:cNvPicPr>
          <p:nvPr/>
        </p:nvPicPr>
        <p:blipFill>
          <a:blip r:embed="rId3"/>
          <a:stretch>
            <a:fillRect/>
          </a:stretch>
        </p:blipFill>
        <p:spPr>
          <a:xfrm>
            <a:off x="9486900" y="2697480"/>
            <a:ext cx="137160" cy="457200"/>
          </a:xfrm>
          <a:prstGeom prst="rect">
            <a:avLst/>
          </a:prstGeom>
        </p:spPr>
      </p:pic>
      <p:sp>
        <p:nvSpPr>
          <p:cNvPr id="24" name="Shape 17"/>
          <p:cNvSpPr/>
          <p:nvPr/>
        </p:nvSpPr>
        <p:spPr>
          <a:xfrm>
            <a:off x="9601200" y="1920240"/>
            <a:ext cx="1691640" cy="2011680"/>
          </a:xfrm>
          <a:prstGeom prst="roundRect">
            <a:avLst>
              <a:gd name="adj" fmla="val 4324"/>
            </a:avLst>
          </a:prstGeom>
          <a:solidFill>
            <a:srgbClr val="00A896"/>
          </a:solidFill>
          <a:ln/>
        </p:spPr>
      </p:sp>
      <p:sp>
        <p:nvSpPr>
          <p:cNvPr id="25" name="Text 18"/>
          <p:cNvSpPr/>
          <p:nvPr/>
        </p:nvSpPr>
        <p:spPr>
          <a:xfrm>
            <a:off x="9601200" y="2057400"/>
            <a:ext cx="1691640"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6</a:t>
            </a:r>
            <a:endParaRPr lang="en-US" sz="2200" dirty="0"/>
          </a:p>
        </p:txBody>
      </p:sp>
      <p:sp>
        <p:nvSpPr>
          <p:cNvPr id="26" name="Text 19"/>
          <p:cNvSpPr/>
          <p:nvPr/>
        </p:nvSpPr>
        <p:spPr>
          <a:xfrm>
            <a:off x="9710928" y="2606040"/>
            <a:ext cx="1472184" cy="1234440"/>
          </a:xfrm>
          <a:prstGeom prst="rect">
            <a:avLst/>
          </a:prstGeom>
          <a:noFill/>
          <a:ln/>
        </p:spPr>
        <p:txBody>
          <a:bodyPr wrap="square" lIns="0" tIns="0" rIns="0" bIns="0" rtlCol="0" anchor="t"/>
          <a:lstStyle/>
          <a:p>
            <a:pPr marL="0" indent="0" algn="ctr">
              <a:buNone/>
            </a:pPr>
            <a:r>
              <a:rPr lang="en-US" dirty="0">
                <a:solidFill>
                  <a:srgbClr val="FFFFFF"/>
                </a:solidFill>
                <a:latin typeface="Calibri" pitchFamily="34" charset="0"/>
                <a:ea typeface="Calibri" pitchFamily="34" charset="-122"/>
                <a:cs typeface="Calibri" pitchFamily="34" charset="-120"/>
              </a:rPr>
              <a:t>Thank the participant</a:t>
            </a:r>
            <a:endParaRPr lang="en-US" dirty="0"/>
          </a:p>
        </p:txBody>
      </p:sp>
      <p:sp>
        <p:nvSpPr>
          <p:cNvPr id="27" name="Shape 20"/>
          <p:cNvSpPr/>
          <p:nvPr/>
        </p:nvSpPr>
        <p:spPr>
          <a:xfrm>
            <a:off x="548640" y="4251960"/>
            <a:ext cx="10789920" cy="1188720"/>
          </a:xfrm>
          <a:prstGeom prst="roundRect">
            <a:avLst>
              <a:gd name="adj" fmla="val 6154"/>
            </a:avLst>
          </a:prstGeom>
          <a:solidFill>
            <a:srgbClr val="F4F7F6"/>
          </a:solidFill>
          <a:ln/>
        </p:spPr>
      </p:sp>
      <p:sp>
        <p:nvSpPr>
          <p:cNvPr id="28" name="Text 21"/>
          <p:cNvSpPr/>
          <p:nvPr/>
        </p:nvSpPr>
        <p:spPr>
          <a:xfrm>
            <a:off x="868680" y="4251960"/>
            <a:ext cx="10149840" cy="1188720"/>
          </a:xfrm>
          <a:prstGeom prst="rect">
            <a:avLst/>
          </a:prstGeom>
          <a:noFill/>
          <a:ln/>
        </p:spPr>
        <p:txBody>
          <a:bodyPr wrap="square" lIns="0" tIns="0" rIns="0" bIns="0" rtlCol="0" anchor="ctr"/>
          <a:lstStyle/>
          <a:p>
            <a:pPr marL="0" indent="0">
              <a:buNone/>
            </a:pPr>
            <a:r>
              <a:rPr lang="en-US" b="1" i="1" dirty="0">
                <a:solidFill>
                  <a:srgbClr val="1B2A4A"/>
                </a:solidFill>
                <a:latin typeface="Cambria" pitchFamily="34" charset="0"/>
                <a:ea typeface="Cambria" pitchFamily="34" charset="-122"/>
                <a:cs typeface="Cambria" pitchFamily="34" charset="-120"/>
              </a:rPr>
              <a:t>Remember: </a:t>
            </a:r>
            <a:r>
              <a:rPr lang="en-US" i="1" dirty="0">
                <a:solidFill>
                  <a:srgbClr val="1B2A4A"/>
                </a:solidFill>
                <a:latin typeface="Cambria" pitchFamily="34" charset="0"/>
                <a:ea typeface="Cambria" pitchFamily="34" charset="-122"/>
                <a:cs typeface="Cambria" pitchFamily="34" charset="-120"/>
              </a:rPr>
              <a:t>Do not defend your product. Do not try to convince the customer. Your role is to listen.</a:t>
            </a:r>
            <a:endParaRPr lang="en-US" dirty="0"/>
          </a:p>
        </p:txBody>
      </p:sp>
      <p:sp>
        <p:nvSpPr>
          <p:cNvPr id="29" name="Text 22"/>
          <p:cNvSpPr/>
          <p:nvPr/>
        </p:nvSpPr>
        <p:spPr>
          <a:xfrm>
            <a:off x="11521440" y="6446520"/>
            <a:ext cx="548640" cy="274320"/>
          </a:xfrm>
          <a:prstGeom prst="rect">
            <a:avLst/>
          </a:prstGeom>
          <a:noFill/>
          <a:ln/>
        </p:spPr>
        <p:txBody>
          <a:bodyPr wrap="square" rtlCol="0" anchor="ctr"/>
          <a:lstStyle/>
          <a:p>
            <a:pPr marL="0" indent="0" algn="r">
              <a:buNone/>
            </a:pPr>
            <a:r>
              <a:rPr lang="en-US" sz="1000" dirty="0">
                <a:solidFill>
                  <a:srgbClr val="9AA7B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73152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Recording Customer Insights</a:t>
            </a:r>
            <a:endParaRPr lang="en-US" sz="3200" dirty="0"/>
          </a:p>
        </p:txBody>
      </p:sp>
      <p:sp>
        <p:nvSpPr>
          <p:cNvPr id="3" name="Text 1"/>
          <p:cNvSpPr/>
          <p:nvPr/>
        </p:nvSpPr>
        <p:spPr>
          <a:xfrm>
            <a:off x="548640" y="1280160"/>
            <a:ext cx="10515600" cy="411480"/>
          </a:xfrm>
          <a:prstGeom prst="rect">
            <a:avLst/>
          </a:prstGeom>
          <a:noFill/>
          <a:ln/>
        </p:spPr>
        <p:txBody>
          <a:bodyPr wrap="square" lIns="0" tIns="0" rIns="0" bIns="0" rtlCol="0" anchor="ctr"/>
          <a:lstStyle/>
          <a:p>
            <a:pPr marL="0" indent="0">
              <a:buNone/>
            </a:pPr>
            <a:r>
              <a:rPr lang="en-US" dirty="0">
                <a:solidFill>
                  <a:srgbClr val="1B2A4A"/>
                </a:solidFill>
                <a:latin typeface="Calibri" pitchFamily="34" charset="0"/>
                <a:ea typeface="Calibri" pitchFamily="34" charset="-122"/>
                <a:cs typeface="Calibri" pitchFamily="34" charset="-120"/>
              </a:rPr>
              <a:t>Record observations immediately after every interaction, organized around the validation questions:</a:t>
            </a:r>
            <a:endParaRPr lang="en-US" dirty="0"/>
          </a:p>
        </p:txBody>
      </p:sp>
      <p:sp>
        <p:nvSpPr>
          <p:cNvPr id="4" name="Shape 2"/>
          <p:cNvSpPr/>
          <p:nvPr/>
        </p:nvSpPr>
        <p:spPr>
          <a:xfrm>
            <a:off x="548640" y="1874520"/>
            <a:ext cx="6400800" cy="457200"/>
          </a:xfrm>
          <a:prstGeom prst="roundRect">
            <a:avLst>
              <a:gd name="adj" fmla="val 12000"/>
            </a:avLst>
          </a:prstGeom>
          <a:solidFill>
            <a:srgbClr val="F4F7F6"/>
          </a:solidFill>
          <a:ln/>
        </p:spPr>
      </p:sp>
      <p:pic>
        <p:nvPicPr>
          <p:cNvPr id="5" name="Image 0" descr="preencoded.png"/>
          <p:cNvPicPr>
            <a:picLocks noChangeAspect="1"/>
          </p:cNvPicPr>
          <p:nvPr/>
        </p:nvPicPr>
        <p:blipFill>
          <a:blip r:embed="rId3"/>
          <a:stretch>
            <a:fillRect/>
          </a:stretch>
        </p:blipFill>
        <p:spPr>
          <a:xfrm>
            <a:off x="685800" y="1965960"/>
            <a:ext cx="274320" cy="274320"/>
          </a:xfrm>
          <a:prstGeom prst="rect">
            <a:avLst/>
          </a:prstGeom>
        </p:spPr>
      </p:pic>
      <p:sp>
        <p:nvSpPr>
          <p:cNvPr id="6" name="Text 3"/>
          <p:cNvSpPr/>
          <p:nvPr/>
        </p:nvSpPr>
        <p:spPr>
          <a:xfrm>
            <a:off x="1097280" y="1874520"/>
            <a:ext cx="5760720" cy="457200"/>
          </a:xfrm>
          <a:prstGeom prst="rect">
            <a:avLst/>
          </a:prstGeom>
          <a:noFill/>
          <a:ln/>
        </p:spPr>
        <p:txBody>
          <a:bodyPr wrap="square" lIns="0" tIns="0" rIns="0" bIns="0" rtlCol="0" anchor="ctr"/>
          <a:lstStyle/>
          <a:p>
            <a:pPr marL="0" indent="0">
              <a:buNone/>
            </a:pPr>
            <a:r>
              <a:rPr lang="en-US" dirty="0">
                <a:solidFill>
                  <a:srgbClr val="1B2A4A"/>
                </a:solidFill>
                <a:latin typeface="Calibri" pitchFamily="34" charset="0"/>
                <a:ea typeface="Calibri" pitchFamily="34" charset="-122"/>
                <a:cs typeface="Calibri" pitchFamily="34" charset="-120"/>
              </a:rPr>
              <a:t>Comments on their current solution or workaround</a:t>
            </a:r>
            <a:endParaRPr lang="en-US" dirty="0"/>
          </a:p>
        </p:txBody>
      </p:sp>
      <p:sp>
        <p:nvSpPr>
          <p:cNvPr id="7" name="Shape 4"/>
          <p:cNvSpPr/>
          <p:nvPr/>
        </p:nvSpPr>
        <p:spPr>
          <a:xfrm>
            <a:off x="548640" y="2441448"/>
            <a:ext cx="6400800" cy="457200"/>
          </a:xfrm>
          <a:prstGeom prst="roundRect">
            <a:avLst>
              <a:gd name="adj" fmla="val 12000"/>
            </a:avLst>
          </a:prstGeom>
          <a:solidFill>
            <a:srgbClr val="FFFFFF"/>
          </a:solidFill>
          <a:ln/>
        </p:spPr>
      </p:sp>
      <p:pic>
        <p:nvPicPr>
          <p:cNvPr id="8" name="Image 1" descr="preencoded.png"/>
          <p:cNvPicPr>
            <a:picLocks noChangeAspect="1"/>
          </p:cNvPicPr>
          <p:nvPr/>
        </p:nvPicPr>
        <p:blipFill>
          <a:blip r:embed="rId3"/>
          <a:stretch>
            <a:fillRect/>
          </a:stretch>
        </p:blipFill>
        <p:spPr>
          <a:xfrm>
            <a:off x="685800" y="2532888"/>
            <a:ext cx="274320" cy="274320"/>
          </a:xfrm>
          <a:prstGeom prst="rect">
            <a:avLst/>
          </a:prstGeom>
        </p:spPr>
      </p:pic>
      <p:sp>
        <p:nvSpPr>
          <p:cNvPr id="9" name="Text 5"/>
          <p:cNvSpPr/>
          <p:nvPr/>
        </p:nvSpPr>
        <p:spPr>
          <a:xfrm>
            <a:off x="1097280" y="2441448"/>
            <a:ext cx="5760720" cy="457200"/>
          </a:xfrm>
          <a:prstGeom prst="rect">
            <a:avLst/>
          </a:prstGeom>
          <a:noFill/>
          <a:ln/>
        </p:spPr>
        <p:txBody>
          <a:bodyPr wrap="square" lIns="0" tIns="0" rIns="0" bIns="0" rtlCol="0" anchor="ctr"/>
          <a:lstStyle/>
          <a:p>
            <a:pPr marL="0" indent="0">
              <a:buNone/>
            </a:pPr>
            <a:r>
              <a:rPr lang="en-US" dirty="0">
                <a:solidFill>
                  <a:srgbClr val="1B2A4A"/>
                </a:solidFill>
                <a:latin typeface="Calibri" pitchFamily="34" charset="0"/>
                <a:ea typeface="Calibri" pitchFamily="34" charset="-122"/>
                <a:cs typeface="Calibri" pitchFamily="34" charset="-120"/>
              </a:rPr>
              <a:t>Evidence of who really faces this problem (market)</a:t>
            </a:r>
            <a:endParaRPr lang="en-US" dirty="0"/>
          </a:p>
        </p:txBody>
      </p:sp>
      <p:sp>
        <p:nvSpPr>
          <p:cNvPr id="10" name="Shape 6"/>
          <p:cNvSpPr/>
          <p:nvPr/>
        </p:nvSpPr>
        <p:spPr>
          <a:xfrm>
            <a:off x="548640" y="3008376"/>
            <a:ext cx="6400800" cy="457200"/>
          </a:xfrm>
          <a:prstGeom prst="roundRect">
            <a:avLst>
              <a:gd name="adj" fmla="val 12000"/>
            </a:avLst>
          </a:prstGeom>
          <a:solidFill>
            <a:srgbClr val="F4F7F6"/>
          </a:solidFill>
          <a:ln/>
        </p:spPr>
      </p:sp>
      <p:pic>
        <p:nvPicPr>
          <p:cNvPr id="11" name="Image 2" descr="preencoded.png"/>
          <p:cNvPicPr>
            <a:picLocks noChangeAspect="1"/>
          </p:cNvPicPr>
          <p:nvPr/>
        </p:nvPicPr>
        <p:blipFill>
          <a:blip r:embed="rId3"/>
          <a:stretch>
            <a:fillRect/>
          </a:stretch>
        </p:blipFill>
        <p:spPr>
          <a:xfrm>
            <a:off x="685800" y="3099816"/>
            <a:ext cx="274320" cy="274320"/>
          </a:xfrm>
          <a:prstGeom prst="rect">
            <a:avLst/>
          </a:prstGeom>
        </p:spPr>
      </p:pic>
      <p:sp>
        <p:nvSpPr>
          <p:cNvPr id="12" name="Text 7"/>
          <p:cNvSpPr/>
          <p:nvPr/>
        </p:nvSpPr>
        <p:spPr>
          <a:xfrm>
            <a:off x="1097280" y="3008376"/>
            <a:ext cx="5760720" cy="457200"/>
          </a:xfrm>
          <a:prstGeom prst="rect">
            <a:avLst/>
          </a:prstGeom>
          <a:noFill/>
          <a:ln/>
        </p:spPr>
        <p:txBody>
          <a:bodyPr wrap="square" lIns="0" tIns="0" rIns="0" bIns="0" rtlCol="0" anchor="ctr"/>
          <a:lstStyle/>
          <a:p>
            <a:pPr marL="0" indent="0">
              <a:buNone/>
            </a:pPr>
            <a:r>
              <a:rPr lang="en-US" dirty="0">
                <a:solidFill>
                  <a:srgbClr val="1B2A4A"/>
                </a:solidFill>
                <a:latin typeface="Calibri" pitchFamily="34" charset="0"/>
                <a:ea typeface="Calibri" pitchFamily="34" charset="-122"/>
                <a:cs typeface="Calibri" pitchFamily="34" charset="-120"/>
              </a:rPr>
              <a:t>Reactions and interest in our proposed solution</a:t>
            </a:r>
            <a:endParaRPr lang="en-US" dirty="0"/>
          </a:p>
        </p:txBody>
      </p:sp>
      <p:sp>
        <p:nvSpPr>
          <p:cNvPr id="13" name="Shape 8"/>
          <p:cNvSpPr/>
          <p:nvPr/>
        </p:nvSpPr>
        <p:spPr>
          <a:xfrm>
            <a:off x="548640" y="3575304"/>
            <a:ext cx="6400800" cy="457200"/>
          </a:xfrm>
          <a:prstGeom prst="roundRect">
            <a:avLst>
              <a:gd name="adj" fmla="val 12000"/>
            </a:avLst>
          </a:prstGeom>
          <a:solidFill>
            <a:srgbClr val="FFFFFF"/>
          </a:solidFill>
          <a:ln/>
        </p:spPr>
      </p:sp>
      <p:pic>
        <p:nvPicPr>
          <p:cNvPr id="14" name="Image 3" descr="preencoded.png"/>
          <p:cNvPicPr>
            <a:picLocks noChangeAspect="1"/>
          </p:cNvPicPr>
          <p:nvPr/>
        </p:nvPicPr>
        <p:blipFill>
          <a:blip r:embed="rId3"/>
          <a:stretch>
            <a:fillRect/>
          </a:stretch>
        </p:blipFill>
        <p:spPr>
          <a:xfrm>
            <a:off x="685800" y="3666744"/>
            <a:ext cx="274320" cy="274320"/>
          </a:xfrm>
          <a:prstGeom prst="rect">
            <a:avLst/>
          </a:prstGeom>
        </p:spPr>
      </p:pic>
      <p:sp>
        <p:nvSpPr>
          <p:cNvPr id="15" name="Text 9"/>
          <p:cNvSpPr/>
          <p:nvPr/>
        </p:nvSpPr>
        <p:spPr>
          <a:xfrm>
            <a:off x="1097280" y="3575304"/>
            <a:ext cx="5760720" cy="457200"/>
          </a:xfrm>
          <a:prstGeom prst="rect">
            <a:avLst/>
          </a:prstGeom>
          <a:noFill/>
          <a:ln/>
        </p:spPr>
        <p:txBody>
          <a:bodyPr wrap="square" lIns="0" tIns="0" rIns="0" bIns="0" rtlCol="0" anchor="ctr"/>
          <a:lstStyle/>
          <a:p>
            <a:pPr marL="0" indent="0">
              <a:buNone/>
            </a:pPr>
            <a:r>
              <a:rPr lang="en-US" dirty="0">
                <a:solidFill>
                  <a:srgbClr val="1B2A4A"/>
                </a:solidFill>
                <a:latin typeface="Calibri" pitchFamily="34" charset="0"/>
                <a:ea typeface="Calibri" pitchFamily="34" charset="-122"/>
                <a:cs typeface="Calibri" pitchFamily="34" charset="-120"/>
              </a:rPr>
              <a:t>Signals about willingness to pay or pricing</a:t>
            </a:r>
            <a:endParaRPr lang="en-US" dirty="0"/>
          </a:p>
        </p:txBody>
      </p:sp>
      <p:sp>
        <p:nvSpPr>
          <p:cNvPr id="16" name="Shape 10"/>
          <p:cNvSpPr/>
          <p:nvPr/>
        </p:nvSpPr>
        <p:spPr>
          <a:xfrm>
            <a:off x="548640" y="4142232"/>
            <a:ext cx="6400800" cy="457200"/>
          </a:xfrm>
          <a:prstGeom prst="roundRect">
            <a:avLst>
              <a:gd name="adj" fmla="val 12000"/>
            </a:avLst>
          </a:prstGeom>
          <a:solidFill>
            <a:srgbClr val="F4F7F6"/>
          </a:solidFill>
          <a:ln/>
        </p:spPr>
      </p:sp>
      <p:pic>
        <p:nvPicPr>
          <p:cNvPr id="17" name="Image 4" descr="preencoded.png"/>
          <p:cNvPicPr>
            <a:picLocks noChangeAspect="1"/>
          </p:cNvPicPr>
          <p:nvPr/>
        </p:nvPicPr>
        <p:blipFill>
          <a:blip r:embed="rId3"/>
          <a:stretch>
            <a:fillRect/>
          </a:stretch>
        </p:blipFill>
        <p:spPr>
          <a:xfrm>
            <a:off x="685800" y="4233672"/>
            <a:ext cx="274320" cy="274320"/>
          </a:xfrm>
          <a:prstGeom prst="rect">
            <a:avLst/>
          </a:prstGeom>
        </p:spPr>
      </p:pic>
      <p:sp>
        <p:nvSpPr>
          <p:cNvPr id="18" name="Text 11"/>
          <p:cNvSpPr/>
          <p:nvPr/>
        </p:nvSpPr>
        <p:spPr>
          <a:xfrm>
            <a:off x="1097280" y="4142232"/>
            <a:ext cx="5760720" cy="457200"/>
          </a:xfrm>
          <a:prstGeom prst="rect">
            <a:avLst/>
          </a:prstGeom>
          <a:noFill/>
          <a:ln/>
        </p:spPr>
        <p:txBody>
          <a:bodyPr wrap="square" lIns="0" tIns="0" rIns="0" bIns="0" rtlCol="0" anchor="ctr"/>
          <a:lstStyle/>
          <a:p>
            <a:pPr marL="0" indent="0">
              <a:buNone/>
            </a:pPr>
            <a:r>
              <a:rPr lang="en-US" dirty="0">
                <a:solidFill>
                  <a:srgbClr val="1B2A4A"/>
                </a:solidFill>
                <a:latin typeface="Calibri" pitchFamily="34" charset="0"/>
                <a:ea typeface="Calibri" pitchFamily="34" charset="-122"/>
                <a:cs typeface="Calibri" pitchFamily="34" charset="-120"/>
              </a:rPr>
              <a:t>Unexpected observations</a:t>
            </a:r>
            <a:endParaRPr lang="en-US" dirty="0"/>
          </a:p>
        </p:txBody>
      </p:sp>
      <p:sp>
        <p:nvSpPr>
          <p:cNvPr id="19" name="Shape 12"/>
          <p:cNvSpPr/>
          <p:nvPr/>
        </p:nvSpPr>
        <p:spPr>
          <a:xfrm>
            <a:off x="7315200" y="1828800"/>
            <a:ext cx="4023360" cy="3611880"/>
          </a:xfrm>
          <a:prstGeom prst="roundRect">
            <a:avLst>
              <a:gd name="adj" fmla="val 2532"/>
            </a:avLst>
          </a:prstGeom>
          <a:solidFill>
            <a:srgbClr val="1B2A4A"/>
          </a:solidFill>
          <a:ln/>
          <a:effectLst>
            <a:outerShdw blurRad="101600" dist="38100" dir="2700000" algn="bl" rotWithShape="0">
              <a:srgbClr val="000000">
                <a:alpha val="12000"/>
              </a:srgbClr>
            </a:outerShdw>
          </a:effectLst>
        </p:spPr>
      </p:sp>
      <p:pic>
        <p:nvPicPr>
          <p:cNvPr id="20" name="Image 5" descr="preencoded.png"/>
          <p:cNvPicPr>
            <a:picLocks noChangeAspect="1"/>
          </p:cNvPicPr>
          <p:nvPr/>
        </p:nvPicPr>
        <p:blipFill>
          <a:blip r:embed="rId4"/>
          <a:stretch>
            <a:fillRect/>
          </a:stretch>
        </p:blipFill>
        <p:spPr>
          <a:xfrm>
            <a:off x="7680960" y="2148840"/>
            <a:ext cx="502920" cy="502920"/>
          </a:xfrm>
          <a:prstGeom prst="rect">
            <a:avLst/>
          </a:prstGeom>
        </p:spPr>
      </p:pic>
      <p:sp>
        <p:nvSpPr>
          <p:cNvPr id="21" name="Text 13"/>
          <p:cNvSpPr/>
          <p:nvPr/>
        </p:nvSpPr>
        <p:spPr>
          <a:xfrm>
            <a:off x="7680960" y="2743200"/>
            <a:ext cx="3337560" cy="1463040"/>
          </a:xfrm>
          <a:prstGeom prst="rect">
            <a:avLst/>
          </a:prstGeom>
          <a:noFill/>
          <a:ln/>
        </p:spPr>
        <p:txBody>
          <a:bodyPr wrap="square" lIns="0" tIns="0" rIns="0" bIns="0" rtlCol="0" anchor="t"/>
          <a:lstStyle/>
          <a:p>
            <a:pPr marL="0" indent="0">
              <a:buNone/>
            </a:pPr>
            <a:r>
              <a:rPr lang="en-US" i="1" dirty="0">
                <a:solidFill>
                  <a:srgbClr val="FFFFFF"/>
                </a:solidFill>
                <a:latin typeface="Cambria" pitchFamily="34" charset="0"/>
                <a:ea typeface="Cambria" pitchFamily="34" charset="-122"/>
                <a:cs typeface="Cambria" pitchFamily="34" charset="-120"/>
              </a:rPr>
              <a:t>Record what customers actually say — rather than your own interpretation.</a:t>
            </a:r>
            <a:endParaRPr lang="en-US" dirty="0"/>
          </a:p>
        </p:txBody>
      </p:sp>
      <p:sp>
        <p:nvSpPr>
          <p:cNvPr id="22" name="Text 14"/>
          <p:cNvSpPr/>
          <p:nvPr/>
        </p:nvSpPr>
        <p:spPr>
          <a:xfrm>
            <a:off x="7680960" y="4297680"/>
            <a:ext cx="3337560" cy="320040"/>
          </a:xfrm>
          <a:prstGeom prst="rect">
            <a:avLst/>
          </a:prstGeom>
          <a:noFill/>
          <a:ln/>
        </p:spPr>
        <p:txBody>
          <a:bodyPr wrap="square" lIns="0" tIns="0" rIns="0" bIns="0" rtlCol="0" anchor="ctr"/>
          <a:lstStyle/>
          <a:p>
            <a:pPr marL="0" indent="0">
              <a:buNone/>
            </a:pPr>
            <a:r>
              <a:rPr lang="en-US" b="1" dirty="0">
                <a:solidFill>
                  <a:srgbClr val="00A896"/>
                </a:solidFill>
                <a:latin typeface="Calibri" pitchFamily="34" charset="0"/>
                <a:ea typeface="Calibri" pitchFamily="34" charset="-122"/>
                <a:cs typeface="Calibri" pitchFamily="34" charset="-120"/>
              </a:rPr>
              <a:t>Key Message</a:t>
            </a:r>
            <a:endParaRPr lang="en-US" dirty="0"/>
          </a:p>
        </p:txBody>
      </p:sp>
      <p:sp>
        <p:nvSpPr>
          <p:cNvPr id="23" name="Text 15"/>
          <p:cNvSpPr/>
          <p:nvPr/>
        </p:nvSpPr>
        <p:spPr>
          <a:xfrm>
            <a:off x="7680960" y="4617720"/>
            <a:ext cx="3337560" cy="640080"/>
          </a:xfrm>
          <a:prstGeom prst="rect">
            <a:avLst/>
          </a:prstGeom>
          <a:noFill/>
          <a:ln/>
        </p:spPr>
        <p:txBody>
          <a:bodyPr wrap="square" lIns="0" tIns="0" rIns="0" bIns="0" rtlCol="0" anchor="ctr"/>
          <a:lstStyle/>
          <a:p>
            <a:pPr marL="0" indent="0">
              <a:buNone/>
            </a:pPr>
            <a:r>
              <a:rPr lang="en-US" dirty="0">
                <a:solidFill>
                  <a:srgbClr val="BFD9D6"/>
                </a:solidFill>
                <a:latin typeface="Calibri" pitchFamily="34" charset="0"/>
                <a:ea typeface="Calibri" pitchFamily="34" charset="-122"/>
                <a:cs typeface="Calibri" pitchFamily="34" charset="-120"/>
              </a:rPr>
              <a:t>Good decisions depend on good observations.</a:t>
            </a:r>
            <a:endParaRPr lang="en-US" dirty="0"/>
          </a:p>
        </p:txBody>
      </p:sp>
      <p:sp>
        <p:nvSpPr>
          <p:cNvPr id="24" name="Text 16"/>
          <p:cNvSpPr/>
          <p:nvPr/>
        </p:nvSpPr>
        <p:spPr>
          <a:xfrm>
            <a:off x="11521440" y="6446520"/>
            <a:ext cx="548640" cy="274320"/>
          </a:xfrm>
          <a:prstGeom prst="rect">
            <a:avLst/>
          </a:prstGeom>
          <a:noFill/>
          <a:ln/>
        </p:spPr>
        <p:txBody>
          <a:bodyPr wrap="square" rtlCol="0" anchor="ctr"/>
          <a:lstStyle/>
          <a:p>
            <a:pPr marL="0" indent="0" algn="r">
              <a:buNone/>
            </a:pPr>
            <a:r>
              <a:rPr lang="en-US" sz="1000" dirty="0">
                <a:solidFill>
                  <a:srgbClr val="9AA7B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73152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Analysing the Insights</a:t>
            </a:r>
            <a:endParaRPr lang="en-US" sz="3200" dirty="0"/>
          </a:p>
        </p:txBody>
      </p:sp>
      <p:sp>
        <p:nvSpPr>
          <p:cNvPr id="3" name="Text 1"/>
          <p:cNvSpPr/>
          <p:nvPr/>
        </p:nvSpPr>
        <p:spPr>
          <a:xfrm>
            <a:off x="548640" y="1280160"/>
            <a:ext cx="10515600" cy="411480"/>
          </a:xfrm>
          <a:prstGeom prst="rect">
            <a:avLst/>
          </a:prstGeom>
          <a:noFill/>
          <a:ln/>
        </p:spPr>
        <p:txBody>
          <a:bodyPr wrap="square" lIns="0" tIns="0" rIns="0" bIns="0" rtlCol="0" anchor="ctr"/>
          <a:lstStyle/>
          <a:p>
            <a:pPr marL="0" indent="0">
              <a:buNone/>
            </a:pPr>
            <a:r>
              <a:rPr lang="en-US" dirty="0">
                <a:solidFill>
                  <a:srgbClr val="1B2A4A"/>
                </a:solidFill>
                <a:latin typeface="Calibri" pitchFamily="34" charset="0"/>
                <a:ea typeface="Calibri" pitchFamily="34" charset="-122"/>
                <a:cs typeface="Calibri" pitchFamily="34" charset="-120"/>
              </a:rPr>
              <a:t>After completing all interviews, review the responses against the validation questions. Identify:</a:t>
            </a:r>
            <a:endParaRPr lang="en-US" dirty="0"/>
          </a:p>
        </p:txBody>
      </p:sp>
      <p:sp>
        <p:nvSpPr>
          <p:cNvPr id="4" name="Shape 2"/>
          <p:cNvSpPr/>
          <p:nvPr/>
        </p:nvSpPr>
        <p:spPr>
          <a:xfrm>
            <a:off x="548640" y="1920240"/>
            <a:ext cx="3429000" cy="1234440"/>
          </a:xfrm>
          <a:prstGeom prst="roundRect">
            <a:avLst>
              <a:gd name="adj" fmla="val 5926"/>
            </a:avLst>
          </a:prstGeom>
          <a:solidFill>
            <a:srgbClr val="F4F7F6"/>
          </a:solidFill>
          <a:ln/>
          <a:effectLst>
            <a:outerShdw blurRad="101600" dist="38100" dir="2700000" algn="bl" rotWithShape="0">
              <a:srgbClr val="000000">
                <a:alpha val="12000"/>
              </a:srgbClr>
            </a:outerShdw>
          </a:effectLst>
        </p:spPr>
      </p:sp>
      <p:sp>
        <p:nvSpPr>
          <p:cNvPr id="5" name="Shape 3"/>
          <p:cNvSpPr/>
          <p:nvPr/>
        </p:nvSpPr>
        <p:spPr>
          <a:xfrm>
            <a:off x="749808" y="2121408"/>
            <a:ext cx="548640" cy="548640"/>
          </a:xfrm>
          <a:prstGeom prst="ellipse">
            <a:avLst/>
          </a:prstGeom>
          <a:solidFill>
            <a:srgbClr val="028090"/>
          </a:solidFill>
          <a:ln/>
        </p:spPr>
      </p:sp>
      <p:pic>
        <p:nvPicPr>
          <p:cNvPr id="6" name="Image 0" descr="preencoded.png"/>
          <p:cNvPicPr>
            <a:picLocks noChangeAspect="1"/>
          </p:cNvPicPr>
          <p:nvPr/>
        </p:nvPicPr>
        <p:blipFill>
          <a:blip r:embed="rId3"/>
          <a:stretch>
            <a:fillRect/>
          </a:stretch>
        </p:blipFill>
        <p:spPr>
          <a:xfrm>
            <a:off x="881482" y="2253082"/>
            <a:ext cx="285293" cy="285293"/>
          </a:xfrm>
          <a:prstGeom prst="rect">
            <a:avLst/>
          </a:prstGeom>
        </p:spPr>
      </p:pic>
      <p:sp>
        <p:nvSpPr>
          <p:cNvPr id="7" name="Text 4"/>
          <p:cNvSpPr/>
          <p:nvPr/>
        </p:nvSpPr>
        <p:spPr>
          <a:xfrm>
            <a:off x="1417320" y="1920240"/>
            <a:ext cx="2423160" cy="1234440"/>
          </a:xfrm>
          <a:prstGeom prst="rect">
            <a:avLst/>
          </a:prstGeom>
          <a:noFill/>
          <a:ln/>
        </p:spPr>
        <p:txBody>
          <a:bodyPr wrap="square" lIns="0" tIns="0" rIns="0" bIns="0" rtlCol="0" anchor="ctr"/>
          <a:lstStyle/>
          <a:p>
            <a:pPr marL="0" indent="0">
              <a:buNone/>
            </a:pPr>
            <a:r>
              <a:rPr lang="en-US" dirty="0">
                <a:solidFill>
                  <a:srgbClr val="1B2A4A"/>
                </a:solidFill>
                <a:latin typeface="Calibri" pitchFamily="34" charset="0"/>
                <a:ea typeface="Calibri" pitchFamily="34" charset="-122"/>
                <a:cs typeface="Calibri" pitchFamily="34" charset="-120"/>
              </a:rPr>
              <a:t>Is the problem real and frequent across respondents?</a:t>
            </a:r>
            <a:endParaRPr lang="en-US" dirty="0"/>
          </a:p>
        </p:txBody>
      </p:sp>
      <p:sp>
        <p:nvSpPr>
          <p:cNvPr id="8" name="Shape 5"/>
          <p:cNvSpPr/>
          <p:nvPr/>
        </p:nvSpPr>
        <p:spPr>
          <a:xfrm>
            <a:off x="4160520" y="1920240"/>
            <a:ext cx="3429000" cy="1234440"/>
          </a:xfrm>
          <a:prstGeom prst="roundRect">
            <a:avLst>
              <a:gd name="adj" fmla="val 5926"/>
            </a:avLst>
          </a:prstGeom>
          <a:solidFill>
            <a:srgbClr val="F4F7F6"/>
          </a:solidFill>
          <a:ln/>
          <a:effectLst>
            <a:outerShdw blurRad="101600" dist="38100" dir="2700000" algn="bl" rotWithShape="0">
              <a:srgbClr val="000000">
                <a:alpha val="12000"/>
              </a:srgbClr>
            </a:outerShdw>
          </a:effectLst>
        </p:spPr>
      </p:sp>
      <p:sp>
        <p:nvSpPr>
          <p:cNvPr id="9" name="Shape 6"/>
          <p:cNvSpPr/>
          <p:nvPr/>
        </p:nvSpPr>
        <p:spPr>
          <a:xfrm>
            <a:off x="4361688" y="2121408"/>
            <a:ext cx="548640" cy="548640"/>
          </a:xfrm>
          <a:prstGeom prst="ellipse">
            <a:avLst/>
          </a:prstGeom>
          <a:solidFill>
            <a:srgbClr val="028090"/>
          </a:solidFill>
          <a:ln/>
        </p:spPr>
      </p:sp>
      <p:pic>
        <p:nvPicPr>
          <p:cNvPr id="10" name="Image 1" descr="preencoded.png"/>
          <p:cNvPicPr>
            <a:picLocks noChangeAspect="1"/>
          </p:cNvPicPr>
          <p:nvPr/>
        </p:nvPicPr>
        <p:blipFill>
          <a:blip r:embed="rId4"/>
          <a:stretch>
            <a:fillRect/>
          </a:stretch>
        </p:blipFill>
        <p:spPr>
          <a:xfrm>
            <a:off x="4493362" y="2253082"/>
            <a:ext cx="285293" cy="285293"/>
          </a:xfrm>
          <a:prstGeom prst="rect">
            <a:avLst/>
          </a:prstGeom>
        </p:spPr>
      </p:pic>
      <p:sp>
        <p:nvSpPr>
          <p:cNvPr id="11" name="Text 7"/>
          <p:cNvSpPr/>
          <p:nvPr/>
        </p:nvSpPr>
        <p:spPr>
          <a:xfrm>
            <a:off x="5029200" y="1920240"/>
            <a:ext cx="2423160" cy="1234440"/>
          </a:xfrm>
          <a:prstGeom prst="rect">
            <a:avLst/>
          </a:prstGeom>
          <a:noFill/>
          <a:ln/>
        </p:spPr>
        <p:txBody>
          <a:bodyPr wrap="square" lIns="0" tIns="0" rIns="0" bIns="0" rtlCol="0" anchor="ctr"/>
          <a:lstStyle/>
          <a:p>
            <a:pPr marL="0" indent="0">
              <a:buNone/>
            </a:pPr>
            <a:r>
              <a:rPr lang="en-US" dirty="0">
                <a:solidFill>
                  <a:srgbClr val="1B2A4A"/>
                </a:solidFill>
                <a:latin typeface="Calibri" pitchFamily="34" charset="0"/>
                <a:ea typeface="Calibri" pitchFamily="34" charset="-122"/>
                <a:cs typeface="Calibri" pitchFamily="34" charset="-120"/>
              </a:rPr>
              <a:t>Who consistently experiences it (market)?</a:t>
            </a:r>
            <a:endParaRPr lang="en-US" dirty="0"/>
          </a:p>
        </p:txBody>
      </p:sp>
      <p:sp>
        <p:nvSpPr>
          <p:cNvPr id="12" name="Shape 8"/>
          <p:cNvSpPr/>
          <p:nvPr/>
        </p:nvSpPr>
        <p:spPr>
          <a:xfrm>
            <a:off x="7772400" y="1920240"/>
            <a:ext cx="3429000" cy="1234440"/>
          </a:xfrm>
          <a:prstGeom prst="roundRect">
            <a:avLst>
              <a:gd name="adj" fmla="val 5926"/>
            </a:avLst>
          </a:prstGeom>
          <a:solidFill>
            <a:srgbClr val="F4F7F6"/>
          </a:solidFill>
          <a:ln/>
          <a:effectLst>
            <a:outerShdw blurRad="101600" dist="38100" dir="2700000" algn="bl" rotWithShape="0">
              <a:srgbClr val="000000">
                <a:alpha val="12000"/>
              </a:srgbClr>
            </a:outerShdw>
          </a:effectLst>
        </p:spPr>
      </p:sp>
      <p:sp>
        <p:nvSpPr>
          <p:cNvPr id="13" name="Shape 9"/>
          <p:cNvSpPr/>
          <p:nvPr/>
        </p:nvSpPr>
        <p:spPr>
          <a:xfrm>
            <a:off x="7973568" y="2121408"/>
            <a:ext cx="548640" cy="548640"/>
          </a:xfrm>
          <a:prstGeom prst="ellipse">
            <a:avLst/>
          </a:prstGeom>
          <a:solidFill>
            <a:srgbClr val="028090"/>
          </a:solidFill>
          <a:ln/>
        </p:spPr>
      </p:sp>
      <p:pic>
        <p:nvPicPr>
          <p:cNvPr id="14" name="Image 2" descr="preencoded.png"/>
          <p:cNvPicPr>
            <a:picLocks noChangeAspect="1"/>
          </p:cNvPicPr>
          <p:nvPr/>
        </p:nvPicPr>
        <p:blipFill>
          <a:blip r:embed="rId5"/>
          <a:stretch>
            <a:fillRect/>
          </a:stretch>
        </p:blipFill>
        <p:spPr>
          <a:xfrm>
            <a:off x="8105242" y="2253082"/>
            <a:ext cx="285293" cy="285293"/>
          </a:xfrm>
          <a:prstGeom prst="rect">
            <a:avLst/>
          </a:prstGeom>
        </p:spPr>
      </p:pic>
      <p:sp>
        <p:nvSpPr>
          <p:cNvPr id="15" name="Text 10"/>
          <p:cNvSpPr/>
          <p:nvPr/>
        </p:nvSpPr>
        <p:spPr>
          <a:xfrm>
            <a:off x="8641080" y="1920240"/>
            <a:ext cx="2423160" cy="1234440"/>
          </a:xfrm>
          <a:prstGeom prst="rect">
            <a:avLst/>
          </a:prstGeom>
          <a:noFill/>
          <a:ln/>
        </p:spPr>
        <p:txBody>
          <a:bodyPr wrap="square" lIns="0" tIns="0" rIns="0" bIns="0" rtlCol="0" anchor="ctr"/>
          <a:lstStyle/>
          <a:p>
            <a:pPr marL="0" indent="0">
              <a:buNone/>
            </a:pPr>
            <a:r>
              <a:rPr lang="en-US" dirty="0">
                <a:solidFill>
                  <a:srgbClr val="1B2A4A"/>
                </a:solidFill>
                <a:latin typeface="Calibri" pitchFamily="34" charset="0"/>
                <a:ea typeface="Calibri" pitchFamily="34" charset="-122"/>
                <a:cs typeface="Calibri" pitchFamily="34" charset="-120"/>
              </a:rPr>
              <a:t>How strong is interest in our solution?</a:t>
            </a:r>
            <a:endParaRPr lang="en-US" dirty="0"/>
          </a:p>
        </p:txBody>
      </p:sp>
      <p:sp>
        <p:nvSpPr>
          <p:cNvPr id="16" name="Shape 11"/>
          <p:cNvSpPr/>
          <p:nvPr/>
        </p:nvSpPr>
        <p:spPr>
          <a:xfrm>
            <a:off x="548640" y="3337560"/>
            <a:ext cx="3429000" cy="1234440"/>
          </a:xfrm>
          <a:prstGeom prst="roundRect">
            <a:avLst>
              <a:gd name="adj" fmla="val 5926"/>
            </a:avLst>
          </a:prstGeom>
          <a:solidFill>
            <a:srgbClr val="F4F7F6"/>
          </a:solidFill>
          <a:ln/>
          <a:effectLst>
            <a:outerShdw blurRad="101600" dist="38100" dir="2700000" algn="bl" rotWithShape="0">
              <a:srgbClr val="000000">
                <a:alpha val="12000"/>
              </a:srgbClr>
            </a:outerShdw>
          </a:effectLst>
        </p:spPr>
      </p:sp>
      <p:sp>
        <p:nvSpPr>
          <p:cNvPr id="17" name="Shape 12"/>
          <p:cNvSpPr/>
          <p:nvPr/>
        </p:nvSpPr>
        <p:spPr>
          <a:xfrm>
            <a:off x="749808" y="3538728"/>
            <a:ext cx="548640" cy="548640"/>
          </a:xfrm>
          <a:prstGeom prst="ellipse">
            <a:avLst/>
          </a:prstGeom>
          <a:solidFill>
            <a:srgbClr val="028090"/>
          </a:solidFill>
          <a:ln/>
        </p:spPr>
      </p:sp>
      <p:pic>
        <p:nvPicPr>
          <p:cNvPr id="18" name="Image 3" descr="preencoded.png"/>
          <p:cNvPicPr>
            <a:picLocks noChangeAspect="1"/>
          </p:cNvPicPr>
          <p:nvPr/>
        </p:nvPicPr>
        <p:blipFill>
          <a:blip r:embed="rId6"/>
          <a:stretch>
            <a:fillRect/>
          </a:stretch>
        </p:blipFill>
        <p:spPr>
          <a:xfrm>
            <a:off x="881482" y="3670402"/>
            <a:ext cx="285293" cy="285293"/>
          </a:xfrm>
          <a:prstGeom prst="rect">
            <a:avLst/>
          </a:prstGeom>
        </p:spPr>
      </p:pic>
      <p:sp>
        <p:nvSpPr>
          <p:cNvPr id="19" name="Text 13"/>
          <p:cNvSpPr/>
          <p:nvPr/>
        </p:nvSpPr>
        <p:spPr>
          <a:xfrm>
            <a:off x="1417320" y="3337560"/>
            <a:ext cx="2423160" cy="1234440"/>
          </a:xfrm>
          <a:prstGeom prst="rect">
            <a:avLst/>
          </a:prstGeom>
          <a:noFill/>
          <a:ln/>
        </p:spPr>
        <p:txBody>
          <a:bodyPr wrap="square" lIns="0" tIns="0" rIns="0" bIns="0" rtlCol="0" anchor="ctr"/>
          <a:lstStyle/>
          <a:p>
            <a:pPr marL="0" indent="0">
              <a:buNone/>
            </a:pPr>
            <a:r>
              <a:rPr lang="en-US" dirty="0">
                <a:solidFill>
                  <a:srgbClr val="1B2A4A"/>
                </a:solidFill>
                <a:latin typeface="Calibri" pitchFamily="34" charset="0"/>
                <a:ea typeface="Calibri" pitchFamily="34" charset="-122"/>
                <a:cs typeface="Calibri" pitchFamily="34" charset="-120"/>
              </a:rPr>
              <a:t>What pricing or payment signals emerged?</a:t>
            </a:r>
            <a:endParaRPr lang="en-US" dirty="0"/>
          </a:p>
        </p:txBody>
      </p:sp>
      <p:sp>
        <p:nvSpPr>
          <p:cNvPr id="20" name="Shape 14"/>
          <p:cNvSpPr/>
          <p:nvPr/>
        </p:nvSpPr>
        <p:spPr>
          <a:xfrm>
            <a:off x="4160520" y="3337560"/>
            <a:ext cx="3429000" cy="1234440"/>
          </a:xfrm>
          <a:prstGeom prst="roundRect">
            <a:avLst>
              <a:gd name="adj" fmla="val 5926"/>
            </a:avLst>
          </a:prstGeom>
          <a:solidFill>
            <a:srgbClr val="F4F7F6"/>
          </a:solidFill>
          <a:ln/>
          <a:effectLst>
            <a:outerShdw blurRad="101600" dist="38100" dir="2700000" algn="bl" rotWithShape="0">
              <a:srgbClr val="000000">
                <a:alpha val="12000"/>
              </a:srgbClr>
            </a:outerShdw>
          </a:effectLst>
        </p:spPr>
      </p:sp>
      <p:sp>
        <p:nvSpPr>
          <p:cNvPr id="21" name="Shape 15"/>
          <p:cNvSpPr/>
          <p:nvPr/>
        </p:nvSpPr>
        <p:spPr>
          <a:xfrm>
            <a:off x="4361688" y="3538728"/>
            <a:ext cx="548640" cy="548640"/>
          </a:xfrm>
          <a:prstGeom prst="ellipse">
            <a:avLst/>
          </a:prstGeom>
          <a:solidFill>
            <a:srgbClr val="028090"/>
          </a:solidFill>
          <a:ln/>
        </p:spPr>
      </p:sp>
      <p:pic>
        <p:nvPicPr>
          <p:cNvPr id="22" name="Image 4" descr="preencoded.png"/>
          <p:cNvPicPr>
            <a:picLocks noChangeAspect="1"/>
          </p:cNvPicPr>
          <p:nvPr/>
        </p:nvPicPr>
        <p:blipFill>
          <a:blip r:embed="rId7"/>
          <a:stretch>
            <a:fillRect/>
          </a:stretch>
        </p:blipFill>
        <p:spPr>
          <a:xfrm>
            <a:off x="4493362" y="3670402"/>
            <a:ext cx="285293" cy="285293"/>
          </a:xfrm>
          <a:prstGeom prst="rect">
            <a:avLst/>
          </a:prstGeom>
        </p:spPr>
      </p:pic>
      <p:sp>
        <p:nvSpPr>
          <p:cNvPr id="23" name="Text 16"/>
          <p:cNvSpPr/>
          <p:nvPr/>
        </p:nvSpPr>
        <p:spPr>
          <a:xfrm>
            <a:off x="5029200" y="3337560"/>
            <a:ext cx="2423160" cy="1234440"/>
          </a:xfrm>
          <a:prstGeom prst="rect">
            <a:avLst/>
          </a:prstGeom>
          <a:noFill/>
          <a:ln/>
        </p:spPr>
        <p:txBody>
          <a:bodyPr wrap="square" lIns="0" tIns="0" rIns="0" bIns="0" rtlCol="0" anchor="ctr"/>
          <a:lstStyle/>
          <a:p>
            <a:pPr marL="0" indent="0">
              <a:buNone/>
            </a:pPr>
            <a:r>
              <a:rPr lang="en-US" dirty="0">
                <a:solidFill>
                  <a:srgbClr val="1B2A4A"/>
                </a:solidFill>
                <a:latin typeface="Calibri" pitchFamily="34" charset="0"/>
                <a:ea typeface="Calibri" pitchFamily="34" charset="-122"/>
                <a:cs typeface="Calibri" pitchFamily="34" charset="-120"/>
              </a:rPr>
              <a:t>Differences in opinion between stakeholder groups</a:t>
            </a:r>
            <a:endParaRPr lang="en-US" dirty="0"/>
          </a:p>
        </p:txBody>
      </p:sp>
      <p:sp>
        <p:nvSpPr>
          <p:cNvPr id="24" name="Text 17"/>
          <p:cNvSpPr/>
          <p:nvPr/>
        </p:nvSpPr>
        <p:spPr>
          <a:xfrm>
            <a:off x="548640" y="4892040"/>
            <a:ext cx="10515600" cy="457200"/>
          </a:xfrm>
          <a:prstGeom prst="rect">
            <a:avLst/>
          </a:prstGeom>
          <a:noFill/>
          <a:ln/>
        </p:spPr>
        <p:txBody>
          <a:bodyPr wrap="square" lIns="0" tIns="0" rIns="0" bIns="0" rtlCol="0" anchor="ctr"/>
          <a:lstStyle/>
          <a:p>
            <a:pPr marL="0" indent="0">
              <a:buNone/>
            </a:pPr>
            <a:r>
              <a:rPr lang="en-US" b="1" i="1" dirty="0">
                <a:solidFill>
                  <a:srgbClr val="028090"/>
                </a:solidFill>
                <a:latin typeface="Cambria" pitchFamily="34" charset="0"/>
                <a:ea typeface="Cambria" pitchFamily="34" charset="-122"/>
                <a:cs typeface="Cambria" pitchFamily="34" charset="-120"/>
              </a:rPr>
              <a:t>The objective is to identify patterns rather than isolated opinions.</a:t>
            </a:r>
            <a:endParaRPr lang="en-US" dirty="0"/>
          </a:p>
        </p:txBody>
      </p:sp>
      <p:sp>
        <p:nvSpPr>
          <p:cNvPr id="25" name="Text 18"/>
          <p:cNvSpPr/>
          <p:nvPr/>
        </p:nvSpPr>
        <p:spPr>
          <a:xfrm>
            <a:off x="11521440" y="6446520"/>
            <a:ext cx="548640" cy="274320"/>
          </a:xfrm>
          <a:prstGeom prst="rect">
            <a:avLst/>
          </a:prstGeom>
          <a:noFill/>
          <a:ln/>
        </p:spPr>
        <p:txBody>
          <a:bodyPr wrap="square" rtlCol="0" anchor="ctr"/>
          <a:lstStyle/>
          <a:p>
            <a:pPr marL="0" indent="0" algn="r">
              <a:buNone/>
            </a:pPr>
            <a:r>
              <a:rPr lang="en-US" sz="1000" dirty="0">
                <a:solidFill>
                  <a:srgbClr val="9AA7B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48640" y="411480"/>
            <a:ext cx="10698480" cy="7315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Using Customer Insights to Improve the Product</a:t>
            </a:r>
            <a:endParaRPr lang="en-US" sz="3200" dirty="0"/>
          </a:p>
        </p:txBody>
      </p:sp>
      <p:sp>
        <p:nvSpPr>
          <p:cNvPr id="3" name="Text 1"/>
          <p:cNvSpPr/>
          <p:nvPr/>
        </p:nvSpPr>
        <p:spPr>
          <a:xfrm>
            <a:off x="548640" y="1188720"/>
            <a:ext cx="10515600" cy="411480"/>
          </a:xfrm>
          <a:prstGeom prst="rect">
            <a:avLst/>
          </a:prstGeom>
          <a:noFill/>
          <a:ln/>
        </p:spPr>
        <p:txBody>
          <a:bodyPr wrap="square" lIns="0" tIns="0" rIns="0" bIns="0" rtlCol="0" anchor="ctr"/>
          <a:lstStyle/>
          <a:p>
            <a:pPr marL="0" indent="0">
              <a:buNone/>
            </a:pPr>
            <a:r>
              <a:rPr lang="en-US" dirty="0">
                <a:solidFill>
                  <a:srgbClr val="BFD9D6"/>
                </a:solidFill>
                <a:latin typeface="Calibri" pitchFamily="34" charset="0"/>
                <a:ea typeface="Calibri" pitchFamily="34" charset="-122"/>
                <a:cs typeface="Calibri" pitchFamily="34" charset="-120"/>
              </a:rPr>
              <a:t>Let the validation questions decide the next version of the product:</a:t>
            </a:r>
            <a:endParaRPr lang="en-US" dirty="0"/>
          </a:p>
        </p:txBody>
      </p:sp>
      <p:sp>
        <p:nvSpPr>
          <p:cNvPr id="4" name="Shape 2"/>
          <p:cNvSpPr/>
          <p:nvPr/>
        </p:nvSpPr>
        <p:spPr>
          <a:xfrm>
            <a:off x="548640" y="1783080"/>
            <a:ext cx="6400800" cy="566928"/>
          </a:xfrm>
          <a:prstGeom prst="roundRect">
            <a:avLst>
              <a:gd name="adj" fmla="val 9677"/>
            </a:avLst>
          </a:prstGeom>
          <a:solidFill>
            <a:srgbClr val="243352"/>
          </a:solidFill>
          <a:ln/>
        </p:spPr>
      </p:sp>
      <p:pic>
        <p:nvPicPr>
          <p:cNvPr id="5" name="Image 0" descr="preencoded.png"/>
          <p:cNvPicPr>
            <a:picLocks noChangeAspect="1"/>
          </p:cNvPicPr>
          <p:nvPr/>
        </p:nvPicPr>
        <p:blipFill>
          <a:blip r:embed="rId3"/>
          <a:stretch>
            <a:fillRect/>
          </a:stretch>
        </p:blipFill>
        <p:spPr>
          <a:xfrm>
            <a:off x="713232" y="1929384"/>
            <a:ext cx="274320" cy="274320"/>
          </a:xfrm>
          <a:prstGeom prst="rect">
            <a:avLst/>
          </a:prstGeom>
        </p:spPr>
      </p:pic>
      <p:sp>
        <p:nvSpPr>
          <p:cNvPr id="6" name="Text 3"/>
          <p:cNvSpPr/>
          <p:nvPr/>
        </p:nvSpPr>
        <p:spPr>
          <a:xfrm>
            <a:off x="1143000" y="1783080"/>
            <a:ext cx="5669280" cy="566928"/>
          </a:xfrm>
          <a:prstGeom prst="rect">
            <a:avLst/>
          </a:prstGeom>
          <a:noFill/>
          <a:ln/>
        </p:spPr>
        <p:txBody>
          <a:bodyPr wrap="square" lIns="0" tIns="0" rIns="0" bIns="0" rtlCol="0" anchor="ctr"/>
          <a:lstStyle/>
          <a:p>
            <a:pPr marL="0" indent="0">
              <a:buNone/>
            </a:pPr>
            <a:r>
              <a:rPr lang="en-US" dirty="0">
                <a:solidFill>
                  <a:srgbClr val="FFFFFF"/>
                </a:solidFill>
                <a:latin typeface="Calibri" pitchFamily="34" charset="0"/>
                <a:ea typeface="Calibri" pitchFamily="34" charset="-122"/>
                <a:cs typeface="Calibri" pitchFamily="34" charset="-120"/>
              </a:rPr>
              <a:t>Is the problem validated enough to proceed?</a:t>
            </a:r>
            <a:endParaRPr lang="en-US" dirty="0"/>
          </a:p>
        </p:txBody>
      </p:sp>
      <p:sp>
        <p:nvSpPr>
          <p:cNvPr id="7" name="Shape 4"/>
          <p:cNvSpPr/>
          <p:nvPr/>
        </p:nvSpPr>
        <p:spPr>
          <a:xfrm>
            <a:off x="548640" y="2496312"/>
            <a:ext cx="6400800" cy="566928"/>
          </a:xfrm>
          <a:prstGeom prst="roundRect">
            <a:avLst>
              <a:gd name="adj" fmla="val 9677"/>
            </a:avLst>
          </a:prstGeom>
          <a:solidFill>
            <a:srgbClr val="243352"/>
          </a:solidFill>
          <a:ln/>
        </p:spPr>
      </p:sp>
      <p:pic>
        <p:nvPicPr>
          <p:cNvPr id="8" name="Image 1" descr="preencoded.png"/>
          <p:cNvPicPr>
            <a:picLocks noChangeAspect="1"/>
          </p:cNvPicPr>
          <p:nvPr/>
        </p:nvPicPr>
        <p:blipFill>
          <a:blip r:embed="rId3"/>
          <a:stretch>
            <a:fillRect/>
          </a:stretch>
        </p:blipFill>
        <p:spPr>
          <a:xfrm>
            <a:off x="713232" y="2642616"/>
            <a:ext cx="274320" cy="274320"/>
          </a:xfrm>
          <a:prstGeom prst="rect">
            <a:avLst/>
          </a:prstGeom>
        </p:spPr>
      </p:pic>
      <p:sp>
        <p:nvSpPr>
          <p:cNvPr id="9" name="Text 5"/>
          <p:cNvSpPr/>
          <p:nvPr/>
        </p:nvSpPr>
        <p:spPr>
          <a:xfrm>
            <a:off x="1143000" y="2496312"/>
            <a:ext cx="5669280" cy="566928"/>
          </a:xfrm>
          <a:prstGeom prst="rect">
            <a:avLst/>
          </a:prstGeom>
          <a:noFill/>
          <a:ln/>
        </p:spPr>
        <p:txBody>
          <a:bodyPr wrap="square" lIns="0" tIns="0" rIns="0" bIns="0" rtlCol="0" anchor="ctr"/>
          <a:lstStyle/>
          <a:p>
            <a:pPr marL="0" indent="0">
              <a:buNone/>
            </a:pPr>
            <a:r>
              <a:rPr lang="en-US" dirty="0">
                <a:solidFill>
                  <a:srgbClr val="FFFFFF"/>
                </a:solidFill>
                <a:latin typeface="Calibri" pitchFamily="34" charset="0"/>
                <a:ea typeface="Calibri" pitchFamily="34" charset="-122"/>
                <a:cs typeface="Calibri" pitchFamily="34" charset="-120"/>
              </a:rPr>
              <a:t>Does our understanding of the market need to change?</a:t>
            </a:r>
            <a:endParaRPr lang="en-US" dirty="0"/>
          </a:p>
        </p:txBody>
      </p:sp>
      <p:sp>
        <p:nvSpPr>
          <p:cNvPr id="10" name="Shape 6"/>
          <p:cNvSpPr/>
          <p:nvPr/>
        </p:nvSpPr>
        <p:spPr>
          <a:xfrm>
            <a:off x="548640" y="3209544"/>
            <a:ext cx="6400800" cy="566928"/>
          </a:xfrm>
          <a:prstGeom prst="roundRect">
            <a:avLst>
              <a:gd name="adj" fmla="val 9677"/>
            </a:avLst>
          </a:prstGeom>
          <a:solidFill>
            <a:srgbClr val="243352"/>
          </a:solidFill>
          <a:ln/>
        </p:spPr>
      </p:sp>
      <p:pic>
        <p:nvPicPr>
          <p:cNvPr id="11" name="Image 2" descr="preencoded.png"/>
          <p:cNvPicPr>
            <a:picLocks noChangeAspect="1"/>
          </p:cNvPicPr>
          <p:nvPr/>
        </p:nvPicPr>
        <p:blipFill>
          <a:blip r:embed="rId3"/>
          <a:stretch>
            <a:fillRect/>
          </a:stretch>
        </p:blipFill>
        <p:spPr>
          <a:xfrm>
            <a:off x="713232" y="3355848"/>
            <a:ext cx="274320" cy="274320"/>
          </a:xfrm>
          <a:prstGeom prst="rect">
            <a:avLst/>
          </a:prstGeom>
        </p:spPr>
      </p:pic>
      <p:sp>
        <p:nvSpPr>
          <p:cNvPr id="12" name="Text 7"/>
          <p:cNvSpPr/>
          <p:nvPr/>
        </p:nvSpPr>
        <p:spPr>
          <a:xfrm>
            <a:off x="1143000" y="3209544"/>
            <a:ext cx="5669280" cy="566928"/>
          </a:xfrm>
          <a:prstGeom prst="rect">
            <a:avLst/>
          </a:prstGeom>
          <a:noFill/>
          <a:ln/>
        </p:spPr>
        <p:txBody>
          <a:bodyPr wrap="square" lIns="0" tIns="0" rIns="0" bIns="0" rtlCol="0" anchor="ctr"/>
          <a:lstStyle/>
          <a:p>
            <a:pPr marL="0" indent="0">
              <a:buNone/>
            </a:pPr>
            <a:r>
              <a:rPr lang="en-US" dirty="0">
                <a:solidFill>
                  <a:srgbClr val="FFFFFF"/>
                </a:solidFill>
                <a:latin typeface="Calibri" pitchFamily="34" charset="0"/>
                <a:ea typeface="Calibri" pitchFamily="34" charset="-122"/>
                <a:cs typeface="Calibri" pitchFamily="34" charset="-120"/>
              </a:rPr>
              <a:t>Should the solution be adjusted based on interest shown?</a:t>
            </a:r>
            <a:endParaRPr lang="en-US" dirty="0"/>
          </a:p>
        </p:txBody>
      </p:sp>
      <p:sp>
        <p:nvSpPr>
          <p:cNvPr id="16" name="Shape 10"/>
          <p:cNvSpPr/>
          <p:nvPr/>
        </p:nvSpPr>
        <p:spPr>
          <a:xfrm>
            <a:off x="548640" y="3964203"/>
            <a:ext cx="6400800" cy="566928"/>
          </a:xfrm>
          <a:prstGeom prst="roundRect">
            <a:avLst>
              <a:gd name="adj" fmla="val 9677"/>
            </a:avLst>
          </a:prstGeom>
          <a:solidFill>
            <a:srgbClr val="243352"/>
          </a:solidFill>
          <a:ln/>
        </p:spPr>
      </p:sp>
      <p:pic>
        <p:nvPicPr>
          <p:cNvPr id="17" name="Image 4" descr="preencoded.png"/>
          <p:cNvPicPr>
            <a:picLocks noChangeAspect="1"/>
          </p:cNvPicPr>
          <p:nvPr/>
        </p:nvPicPr>
        <p:blipFill>
          <a:blip r:embed="rId3"/>
          <a:stretch>
            <a:fillRect/>
          </a:stretch>
        </p:blipFill>
        <p:spPr>
          <a:xfrm>
            <a:off x="713232" y="4110507"/>
            <a:ext cx="274320" cy="274320"/>
          </a:xfrm>
          <a:prstGeom prst="rect">
            <a:avLst/>
          </a:prstGeom>
        </p:spPr>
      </p:pic>
      <p:sp>
        <p:nvSpPr>
          <p:cNvPr id="18" name="Text 11"/>
          <p:cNvSpPr/>
          <p:nvPr/>
        </p:nvSpPr>
        <p:spPr>
          <a:xfrm>
            <a:off x="1143000" y="3964203"/>
            <a:ext cx="5669280" cy="566928"/>
          </a:xfrm>
          <a:prstGeom prst="rect">
            <a:avLst/>
          </a:prstGeom>
          <a:noFill/>
          <a:ln/>
        </p:spPr>
        <p:txBody>
          <a:bodyPr wrap="square" lIns="0" tIns="0" rIns="0" bIns="0" rtlCol="0" anchor="ctr"/>
          <a:lstStyle/>
          <a:p>
            <a:pPr marL="0" indent="0">
              <a:buNone/>
            </a:pPr>
            <a:r>
              <a:rPr lang="en-US" dirty="0">
                <a:solidFill>
                  <a:srgbClr val="FFFFFF"/>
                </a:solidFill>
                <a:latin typeface="Calibri" pitchFamily="34" charset="0"/>
                <a:ea typeface="Calibri" pitchFamily="34" charset="-122"/>
                <a:cs typeface="Calibri" pitchFamily="34" charset="-120"/>
              </a:rPr>
              <a:t>What should be prioritised next?</a:t>
            </a:r>
            <a:endParaRPr lang="en-US" dirty="0"/>
          </a:p>
        </p:txBody>
      </p:sp>
      <p:sp>
        <p:nvSpPr>
          <p:cNvPr id="19" name="Shape 12"/>
          <p:cNvSpPr/>
          <p:nvPr/>
        </p:nvSpPr>
        <p:spPr>
          <a:xfrm>
            <a:off x="7315200" y="1783080"/>
            <a:ext cx="4023360" cy="3611880"/>
          </a:xfrm>
          <a:prstGeom prst="roundRect">
            <a:avLst>
              <a:gd name="adj" fmla="val 2532"/>
            </a:avLst>
          </a:prstGeom>
          <a:solidFill>
            <a:srgbClr val="028090"/>
          </a:solidFill>
          <a:ln/>
          <a:effectLst>
            <a:outerShdw blurRad="101600" dist="38100" dir="2700000" algn="bl" rotWithShape="0">
              <a:srgbClr val="000000">
                <a:alpha val="12000"/>
              </a:srgbClr>
            </a:outerShdw>
          </a:effectLst>
        </p:spPr>
      </p:sp>
      <p:pic>
        <p:nvPicPr>
          <p:cNvPr id="20" name="Image 5" descr="preencoded.png"/>
          <p:cNvPicPr>
            <a:picLocks noChangeAspect="1"/>
          </p:cNvPicPr>
          <p:nvPr/>
        </p:nvPicPr>
        <p:blipFill>
          <a:blip r:embed="rId4"/>
          <a:stretch>
            <a:fillRect/>
          </a:stretch>
        </p:blipFill>
        <p:spPr>
          <a:xfrm>
            <a:off x="7680960" y="2103120"/>
            <a:ext cx="548640" cy="548640"/>
          </a:xfrm>
          <a:prstGeom prst="rect">
            <a:avLst/>
          </a:prstGeom>
        </p:spPr>
      </p:pic>
      <p:sp>
        <p:nvSpPr>
          <p:cNvPr id="21" name="Text 13"/>
          <p:cNvSpPr/>
          <p:nvPr/>
        </p:nvSpPr>
        <p:spPr>
          <a:xfrm>
            <a:off x="7680960" y="2880360"/>
            <a:ext cx="3337560" cy="2286000"/>
          </a:xfrm>
          <a:prstGeom prst="rect">
            <a:avLst/>
          </a:prstGeom>
          <a:noFill/>
          <a:ln/>
        </p:spPr>
        <p:txBody>
          <a:bodyPr wrap="square" lIns="0" tIns="0" rIns="0" bIns="0" rtlCol="0" anchor="t"/>
          <a:lstStyle/>
          <a:p>
            <a:pPr marL="0" indent="0">
              <a:buNone/>
            </a:pPr>
            <a:r>
              <a:rPr lang="en-US" b="1" i="1" dirty="0">
                <a:solidFill>
                  <a:srgbClr val="FFFFFF"/>
                </a:solidFill>
                <a:latin typeface="Cambria" pitchFamily="34" charset="0"/>
                <a:ea typeface="Cambria" pitchFamily="34" charset="-122"/>
                <a:cs typeface="Cambria" pitchFamily="34" charset="-120"/>
              </a:rPr>
              <a:t>Customer feedback transforms an engineering project into a customer-centred product.</a:t>
            </a:r>
            <a:endParaRPr lang="en-US" dirty="0"/>
          </a:p>
        </p:txBody>
      </p:sp>
      <p:sp>
        <p:nvSpPr>
          <p:cNvPr id="22" name="Text 14"/>
          <p:cNvSpPr/>
          <p:nvPr/>
        </p:nvSpPr>
        <p:spPr>
          <a:xfrm>
            <a:off x="11521440" y="6446520"/>
            <a:ext cx="548640" cy="274320"/>
          </a:xfrm>
          <a:prstGeom prst="rect">
            <a:avLst/>
          </a:prstGeom>
          <a:noFill/>
          <a:ln/>
        </p:spPr>
        <p:txBody>
          <a:bodyPr wrap="square" rtlCol="0" anchor="ctr"/>
          <a:lstStyle/>
          <a:p>
            <a:pPr marL="0" indent="0" algn="r">
              <a:buNone/>
            </a:pPr>
            <a:r>
              <a:rPr lang="en-US" sz="1000" dirty="0">
                <a:solidFill>
                  <a:srgbClr val="9AA7B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73152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Student Activity</a:t>
            </a:r>
            <a:endParaRPr lang="en-US" sz="3200" dirty="0"/>
          </a:p>
        </p:txBody>
      </p:sp>
      <p:sp>
        <p:nvSpPr>
          <p:cNvPr id="3" name="Shape 1"/>
          <p:cNvSpPr/>
          <p:nvPr/>
        </p:nvSpPr>
        <p:spPr>
          <a:xfrm>
            <a:off x="548640" y="1234440"/>
            <a:ext cx="10789920" cy="548640"/>
          </a:xfrm>
          <a:prstGeom prst="roundRect">
            <a:avLst>
              <a:gd name="adj" fmla="val 13333"/>
            </a:avLst>
          </a:prstGeom>
          <a:solidFill>
            <a:srgbClr val="00A896"/>
          </a:solidFill>
          <a:ln/>
        </p:spPr>
      </p:sp>
      <p:sp>
        <p:nvSpPr>
          <p:cNvPr id="4" name="Text 2"/>
          <p:cNvSpPr/>
          <p:nvPr/>
        </p:nvSpPr>
        <p:spPr>
          <a:xfrm>
            <a:off x="822960" y="1234440"/>
            <a:ext cx="10241280" cy="54864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Conduct a Customer Insight Survey</a:t>
            </a:r>
            <a:endParaRPr lang="en-US" sz="2000" dirty="0"/>
          </a:p>
        </p:txBody>
      </p:sp>
      <p:sp>
        <p:nvSpPr>
          <p:cNvPr id="5" name="Shape 3"/>
          <p:cNvSpPr/>
          <p:nvPr/>
        </p:nvSpPr>
        <p:spPr>
          <a:xfrm>
            <a:off x="548640" y="2011680"/>
            <a:ext cx="384048" cy="384048"/>
          </a:xfrm>
          <a:prstGeom prst="ellipse">
            <a:avLst/>
          </a:prstGeom>
          <a:solidFill>
            <a:srgbClr val="028090"/>
          </a:solidFill>
          <a:ln/>
        </p:spPr>
      </p:sp>
      <p:sp>
        <p:nvSpPr>
          <p:cNvPr id="6" name="Text 4"/>
          <p:cNvSpPr/>
          <p:nvPr/>
        </p:nvSpPr>
        <p:spPr>
          <a:xfrm>
            <a:off x="548640" y="201168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097280" y="1975104"/>
            <a:ext cx="5394960" cy="457200"/>
          </a:xfrm>
          <a:prstGeom prst="rect">
            <a:avLst/>
          </a:prstGeom>
          <a:noFill/>
          <a:ln/>
        </p:spPr>
        <p:txBody>
          <a:bodyPr wrap="square" lIns="0" tIns="0" rIns="0" bIns="0" rtlCol="0" anchor="ctr"/>
          <a:lstStyle/>
          <a:p>
            <a:pPr marL="0" indent="0">
              <a:buNone/>
            </a:pPr>
            <a:r>
              <a:rPr lang="en-US" sz="2000" dirty="0">
                <a:solidFill>
                  <a:srgbClr val="1B2A4A"/>
                </a:solidFill>
                <a:latin typeface="Calibri" pitchFamily="34" charset="0"/>
                <a:ea typeface="Calibri" pitchFamily="34" charset="-122"/>
                <a:cs typeface="Calibri" pitchFamily="34" charset="-120"/>
              </a:rPr>
              <a:t>Identify relevant stakeholders</a:t>
            </a:r>
            <a:endParaRPr lang="en-US" sz="2000" dirty="0"/>
          </a:p>
        </p:txBody>
      </p:sp>
      <p:sp>
        <p:nvSpPr>
          <p:cNvPr id="8" name="Shape 6"/>
          <p:cNvSpPr/>
          <p:nvPr/>
        </p:nvSpPr>
        <p:spPr>
          <a:xfrm>
            <a:off x="548640" y="2578608"/>
            <a:ext cx="384048" cy="384048"/>
          </a:xfrm>
          <a:prstGeom prst="ellipse">
            <a:avLst/>
          </a:prstGeom>
          <a:solidFill>
            <a:srgbClr val="028090"/>
          </a:solidFill>
          <a:ln/>
        </p:spPr>
      </p:sp>
      <p:sp>
        <p:nvSpPr>
          <p:cNvPr id="9" name="Text 7"/>
          <p:cNvSpPr/>
          <p:nvPr/>
        </p:nvSpPr>
        <p:spPr>
          <a:xfrm>
            <a:off x="548640" y="2578608"/>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0" name="Text 8"/>
          <p:cNvSpPr/>
          <p:nvPr/>
        </p:nvSpPr>
        <p:spPr>
          <a:xfrm>
            <a:off x="1097280" y="2542032"/>
            <a:ext cx="5394960" cy="457200"/>
          </a:xfrm>
          <a:prstGeom prst="rect">
            <a:avLst/>
          </a:prstGeom>
          <a:noFill/>
          <a:ln/>
        </p:spPr>
        <p:txBody>
          <a:bodyPr wrap="square" lIns="0" tIns="0" rIns="0" bIns="0" rtlCol="0" anchor="ctr"/>
          <a:lstStyle/>
          <a:p>
            <a:pPr marL="0" indent="0">
              <a:buNone/>
            </a:pPr>
            <a:r>
              <a:rPr lang="en-US" sz="2000" dirty="0">
                <a:solidFill>
                  <a:srgbClr val="1B2A4A"/>
                </a:solidFill>
                <a:latin typeface="Calibri" pitchFamily="34" charset="0"/>
                <a:ea typeface="Calibri" pitchFamily="34" charset="-122"/>
                <a:cs typeface="Calibri" pitchFamily="34" charset="-120"/>
              </a:rPr>
              <a:t>Conduct at least 20 customer interactions</a:t>
            </a:r>
            <a:endParaRPr lang="en-US" sz="2000" dirty="0"/>
          </a:p>
        </p:txBody>
      </p:sp>
      <p:sp>
        <p:nvSpPr>
          <p:cNvPr id="11" name="Shape 9"/>
          <p:cNvSpPr/>
          <p:nvPr/>
        </p:nvSpPr>
        <p:spPr>
          <a:xfrm>
            <a:off x="548640" y="3145536"/>
            <a:ext cx="384048" cy="384048"/>
          </a:xfrm>
          <a:prstGeom prst="ellipse">
            <a:avLst/>
          </a:prstGeom>
          <a:solidFill>
            <a:srgbClr val="028090"/>
          </a:solidFill>
          <a:ln/>
        </p:spPr>
      </p:sp>
      <p:sp>
        <p:nvSpPr>
          <p:cNvPr id="12" name="Text 10"/>
          <p:cNvSpPr/>
          <p:nvPr/>
        </p:nvSpPr>
        <p:spPr>
          <a:xfrm>
            <a:off x="548640" y="3145536"/>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p:nvPr/>
        </p:nvSpPr>
        <p:spPr>
          <a:xfrm>
            <a:off x="1097280" y="3108960"/>
            <a:ext cx="5394960" cy="457200"/>
          </a:xfrm>
          <a:prstGeom prst="rect">
            <a:avLst/>
          </a:prstGeom>
          <a:noFill/>
          <a:ln/>
        </p:spPr>
        <p:txBody>
          <a:bodyPr wrap="square" lIns="0" tIns="0" rIns="0" bIns="0" rtlCol="0" anchor="ctr"/>
          <a:lstStyle/>
          <a:p>
            <a:pPr marL="0" indent="0">
              <a:buNone/>
            </a:pPr>
            <a:r>
              <a:rPr lang="en-US" sz="2000" dirty="0">
                <a:solidFill>
                  <a:srgbClr val="1B2A4A"/>
                </a:solidFill>
                <a:latin typeface="Calibri" pitchFamily="34" charset="0"/>
                <a:ea typeface="Calibri" pitchFamily="34" charset="-122"/>
                <a:cs typeface="Calibri" pitchFamily="34" charset="-120"/>
              </a:rPr>
              <a:t>Record observations using the questionnaire</a:t>
            </a:r>
            <a:endParaRPr lang="en-US" sz="2000" dirty="0"/>
          </a:p>
        </p:txBody>
      </p:sp>
      <p:sp>
        <p:nvSpPr>
          <p:cNvPr id="14" name="Shape 12"/>
          <p:cNvSpPr/>
          <p:nvPr/>
        </p:nvSpPr>
        <p:spPr>
          <a:xfrm>
            <a:off x="548640" y="3712464"/>
            <a:ext cx="384048" cy="384048"/>
          </a:xfrm>
          <a:prstGeom prst="ellipse">
            <a:avLst/>
          </a:prstGeom>
          <a:solidFill>
            <a:srgbClr val="028090"/>
          </a:solidFill>
          <a:ln/>
        </p:spPr>
      </p:sp>
      <p:sp>
        <p:nvSpPr>
          <p:cNvPr id="15" name="Text 13"/>
          <p:cNvSpPr/>
          <p:nvPr/>
        </p:nvSpPr>
        <p:spPr>
          <a:xfrm>
            <a:off x="548640" y="3712464"/>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6" name="Text 14"/>
          <p:cNvSpPr/>
          <p:nvPr/>
        </p:nvSpPr>
        <p:spPr>
          <a:xfrm>
            <a:off x="1097280" y="3675888"/>
            <a:ext cx="5394960" cy="457200"/>
          </a:xfrm>
          <a:prstGeom prst="rect">
            <a:avLst/>
          </a:prstGeom>
          <a:noFill/>
          <a:ln/>
        </p:spPr>
        <p:txBody>
          <a:bodyPr wrap="square" lIns="0" tIns="0" rIns="0" bIns="0" rtlCol="0" anchor="ctr"/>
          <a:lstStyle/>
          <a:p>
            <a:pPr marL="0" indent="0">
              <a:buNone/>
            </a:pPr>
            <a:r>
              <a:rPr lang="en-US" sz="2000" dirty="0">
                <a:solidFill>
                  <a:srgbClr val="1B2A4A"/>
                </a:solidFill>
                <a:latin typeface="Calibri" pitchFamily="34" charset="0"/>
                <a:ea typeface="Calibri" pitchFamily="34" charset="-122"/>
                <a:cs typeface="Calibri" pitchFamily="34" charset="-120"/>
              </a:rPr>
              <a:t>Analyse the collected insights</a:t>
            </a:r>
            <a:endParaRPr lang="en-US" sz="2000" dirty="0"/>
          </a:p>
        </p:txBody>
      </p:sp>
      <p:sp>
        <p:nvSpPr>
          <p:cNvPr id="17" name="Shape 15"/>
          <p:cNvSpPr/>
          <p:nvPr/>
        </p:nvSpPr>
        <p:spPr>
          <a:xfrm>
            <a:off x="548640" y="4279392"/>
            <a:ext cx="384048" cy="384048"/>
          </a:xfrm>
          <a:prstGeom prst="ellipse">
            <a:avLst/>
          </a:prstGeom>
          <a:solidFill>
            <a:srgbClr val="028090"/>
          </a:solidFill>
          <a:ln/>
        </p:spPr>
      </p:sp>
      <p:sp>
        <p:nvSpPr>
          <p:cNvPr id="18" name="Text 16"/>
          <p:cNvSpPr/>
          <p:nvPr/>
        </p:nvSpPr>
        <p:spPr>
          <a:xfrm>
            <a:off x="548640" y="4279392"/>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19" name="Text 17"/>
          <p:cNvSpPr/>
          <p:nvPr/>
        </p:nvSpPr>
        <p:spPr>
          <a:xfrm>
            <a:off x="1097280" y="4242816"/>
            <a:ext cx="5394960" cy="457200"/>
          </a:xfrm>
          <a:prstGeom prst="rect">
            <a:avLst/>
          </a:prstGeom>
          <a:noFill/>
          <a:ln/>
        </p:spPr>
        <p:txBody>
          <a:bodyPr wrap="square" lIns="0" tIns="0" rIns="0" bIns="0" rtlCol="0" anchor="ctr"/>
          <a:lstStyle/>
          <a:p>
            <a:pPr marL="0" indent="0">
              <a:buNone/>
            </a:pPr>
            <a:r>
              <a:rPr lang="en-US" sz="2000" dirty="0">
                <a:solidFill>
                  <a:srgbClr val="1B2A4A"/>
                </a:solidFill>
                <a:latin typeface="Calibri" pitchFamily="34" charset="0"/>
                <a:ea typeface="Calibri" pitchFamily="34" charset="-122"/>
                <a:cs typeface="Calibri" pitchFamily="34" charset="-120"/>
              </a:rPr>
              <a:t>Prepare a one-page report</a:t>
            </a:r>
            <a:endParaRPr lang="en-US" sz="2000" dirty="0"/>
          </a:p>
        </p:txBody>
      </p:sp>
      <p:sp>
        <p:nvSpPr>
          <p:cNvPr id="20" name="Shape 18"/>
          <p:cNvSpPr/>
          <p:nvPr/>
        </p:nvSpPr>
        <p:spPr>
          <a:xfrm>
            <a:off x="6858000" y="2011680"/>
            <a:ext cx="4480560" cy="3657600"/>
          </a:xfrm>
          <a:prstGeom prst="roundRect">
            <a:avLst>
              <a:gd name="adj" fmla="val 2500"/>
            </a:avLst>
          </a:prstGeom>
          <a:solidFill>
            <a:srgbClr val="F4F7F6"/>
          </a:solidFill>
          <a:ln/>
          <a:effectLst>
            <a:outerShdw blurRad="101600" dist="38100" dir="2700000" algn="bl" rotWithShape="0">
              <a:srgbClr val="000000">
                <a:alpha val="12000"/>
              </a:srgbClr>
            </a:outerShdw>
          </a:effectLst>
        </p:spPr>
      </p:sp>
      <p:sp>
        <p:nvSpPr>
          <p:cNvPr id="21" name="Text 19"/>
          <p:cNvSpPr/>
          <p:nvPr/>
        </p:nvSpPr>
        <p:spPr>
          <a:xfrm>
            <a:off x="7132320" y="2240280"/>
            <a:ext cx="3931920" cy="411480"/>
          </a:xfrm>
          <a:prstGeom prst="rect">
            <a:avLst/>
          </a:prstGeom>
          <a:noFill/>
          <a:ln/>
        </p:spPr>
        <p:txBody>
          <a:bodyPr wrap="square" lIns="0" tIns="0" rIns="0" bIns="0" rtlCol="0" anchor="ctr"/>
          <a:lstStyle/>
          <a:p>
            <a:pPr marL="0" indent="0">
              <a:buNone/>
            </a:pPr>
            <a:r>
              <a:rPr lang="en-US" b="1" dirty="0">
                <a:solidFill>
                  <a:srgbClr val="1B2A4A"/>
                </a:solidFill>
                <a:latin typeface="Calibri" pitchFamily="34" charset="0"/>
                <a:ea typeface="Calibri" pitchFamily="34" charset="-122"/>
                <a:cs typeface="Calibri" pitchFamily="34" charset="-120"/>
              </a:rPr>
              <a:t>One-Page Report Should Summarise:</a:t>
            </a:r>
            <a:endParaRPr lang="en-US" dirty="0"/>
          </a:p>
        </p:txBody>
      </p:sp>
      <p:pic>
        <p:nvPicPr>
          <p:cNvPr id="22" name="Image 0" descr="preencoded.png"/>
          <p:cNvPicPr>
            <a:picLocks noChangeAspect="1"/>
          </p:cNvPicPr>
          <p:nvPr/>
        </p:nvPicPr>
        <p:blipFill>
          <a:blip r:embed="rId3"/>
          <a:stretch>
            <a:fillRect/>
          </a:stretch>
        </p:blipFill>
        <p:spPr>
          <a:xfrm>
            <a:off x="7178040" y="2816352"/>
            <a:ext cx="256032" cy="256032"/>
          </a:xfrm>
          <a:prstGeom prst="rect">
            <a:avLst/>
          </a:prstGeom>
        </p:spPr>
      </p:pic>
      <p:sp>
        <p:nvSpPr>
          <p:cNvPr id="23" name="Text 20"/>
          <p:cNvSpPr/>
          <p:nvPr/>
        </p:nvSpPr>
        <p:spPr>
          <a:xfrm>
            <a:off x="7543800" y="2715768"/>
            <a:ext cx="3566160" cy="457200"/>
          </a:xfrm>
          <a:prstGeom prst="rect">
            <a:avLst/>
          </a:prstGeom>
          <a:noFill/>
          <a:ln/>
        </p:spPr>
        <p:txBody>
          <a:bodyPr wrap="square" lIns="0" tIns="0" rIns="0" bIns="0" rtlCol="0" anchor="ctr"/>
          <a:lstStyle/>
          <a:p>
            <a:pPr marL="0" indent="0">
              <a:buNone/>
            </a:pPr>
            <a:r>
              <a:rPr lang="en-US" dirty="0">
                <a:solidFill>
                  <a:srgbClr val="1B2A4A"/>
                </a:solidFill>
                <a:latin typeface="Calibri" pitchFamily="34" charset="0"/>
                <a:ea typeface="Calibri" pitchFamily="34" charset="-122"/>
                <a:cs typeface="Calibri" pitchFamily="34" charset="-120"/>
              </a:rPr>
              <a:t>Customer profile</a:t>
            </a:r>
            <a:endParaRPr lang="en-US" dirty="0"/>
          </a:p>
        </p:txBody>
      </p:sp>
      <p:pic>
        <p:nvPicPr>
          <p:cNvPr id="24" name="Image 1" descr="preencoded.png"/>
          <p:cNvPicPr>
            <a:picLocks noChangeAspect="1"/>
          </p:cNvPicPr>
          <p:nvPr/>
        </p:nvPicPr>
        <p:blipFill>
          <a:blip r:embed="rId3"/>
          <a:stretch>
            <a:fillRect/>
          </a:stretch>
        </p:blipFill>
        <p:spPr>
          <a:xfrm>
            <a:off x="7178040" y="3474720"/>
            <a:ext cx="256032" cy="256032"/>
          </a:xfrm>
          <a:prstGeom prst="rect">
            <a:avLst/>
          </a:prstGeom>
        </p:spPr>
      </p:pic>
      <p:sp>
        <p:nvSpPr>
          <p:cNvPr id="25" name="Text 21"/>
          <p:cNvSpPr/>
          <p:nvPr/>
        </p:nvSpPr>
        <p:spPr>
          <a:xfrm>
            <a:off x="7543800" y="3374136"/>
            <a:ext cx="3566160" cy="457200"/>
          </a:xfrm>
          <a:prstGeom prst="rect">
            <a:avLst/>
          </a:prstGeom>
          <a:noFill/>
          <a:ln/>
        </p:spPr>
        <p:txBody>
          <a:bodyPr wrap="square" lIns="0" tIns="0" rIns="0" bIns="0" rtlCol="0" anchor="ctr"/>
          <a:lstStyle/>
          <a:p>
            <a:pPr marL="0" indent="0">
              <a:buNone/>
            </a:pPr>
            <a:r>
              <a:rPr lang="en-US" dirty="0">
                <a:solidFill>
                  <a:srgbClr val="1B2A4A"/>
                </a:solidFill>
                <a:latin typeface="Calibri" pitchFamily="34" charset="0"/>
                <a:ea typeface="Calibri" pitchFamily="34" charset="-122"/>
                <a:cs typeface="Calibri" pitchFamily="34" charset="-120"/>
              </a:rPr>
              <a:t>Key insights obtained</a:t>
            </a:r>
            <a:endParaRPr lang="en-US" dirty="0"/>
          </a:p>
        </p:txBody>
      </p:sp>
      <p:pic>
        <p:nvPicPr>
          <p:cNvPr id="26" name="Image 2" descr="preencoded.png"/>
          <p:cNvPicPr>
            <a:picLocks noChangeAspect="1"/>
          </p:cNvPicPr>
          <p:nvPr/>
        </p:nvPicPr>
        <p:blipFill>
          <a:blip r:embed="rId3"/>
          <a:stretch>
            <a:fillRect/>
          </a:stretch>
        </p:blipFill>
        <p:spPr>
          <a:xfrm>
            <a:off x="7178040" y="4133088"/>
            <a:ext cx="256032" cy="256032"/>
          </a:xfrm>
          <a:prstGeom prst="rect">
            <a:avLst/>
          </a:prstGeom>
        </p:spPr>
      </p:pic>
      <p:sp>
        <p:nvSpPr>
          <p:cNvPr id="27" name="Text 22"/>
          <p:cNvSpPr/>
          <p:nvPr/>
        </p:nvSpPr>
        <p:spPr>
          <a:xfrm>
            <a:off x="7543800" y="4032504"/>
            <a:ext cx="3566160" cy="457200"/>
          </a:xfrm>
          <a:prstGeom prst="rect">
            <a:avLst/>
          </a:prstGeom>
          <a:noFill/>
          <a:ln/>
        </p:spPr>
        <p:txBody>
          <a:bodyPr wrap="square" lIns="0" tIns="0" rIns="0" bIns="0" rtlCol="0" anchor="ctr"/>
          <a:lstStyle/>
          <a:p>
            <a:pPr marL="0" indent="0">
              <a:buNone/>
            </a:pPr>
            <a:r>
              <a:rPr lang="en-US" dirty="0">
                <a:solidFill>
                  <a:srgbClr val="1B2A4A"/>
                </a:solidFill>
                <a:latin typeface="Calibri" pitchFamily="34" charset="0"/>
                <a:ea typeface="Calibri" pitchFamily="34" charset="-122"/>
                <a:cs typeface="Calibri" pitchFamily="34" charset="-120"/>
              </a:rPr>
              <a:t>Major improvement suggestions</a:t>
            </a:r>
            <a:endParaRPr lang="en-US" dirty="0"/>
          </a:p>
        </p:txBody>
      </p:sp>
      <p:pic>
        <p:nvPicPr>
          <p:cNvPr id="28" name="Image 3" descr="preencoded.png"/>
          <p:cNvPicPr>
            <a:picLocks noChangeAspect="1"/>
          </p:cNvPicPr>
          <p:nvPr/>
        </p:nvPicPr>
        <p:blipFill>
          <a:blip r:embed="rId3"/>
          <a:stretch>
            <a:fillRect/>
          </a:stretch>
        </p:blipFill>
        <p:spPr>
          <a:xfrm>
            <a:off x="7178040" y="4791456"/>
            <a:ext cx="256032" cy="256032"/>
          </a:xfrm>
          <a:prstGeom prst="rect">
            <a:avLst/>
          </a:prstGeom>
        </p:spPr>
      </p:pic>
      <p:sp>
        <p:nvSpPr>
          <p:cNvPr id="29" name="Text 23"/>
          <p:cNvSpPr/>
          <p:nvPr/>
        </p:nvSpPr>
        <p:spPr>
          <a:xfrm>
            <a:off x="7543800" y="4690872"/>
            <a:ext cx="3566160" cy="457200"/>
          </a:xfrm>
          <a:prstGeom prst="rect">
            <a:avLst/>
          </a:prstGeom>
          <a:noFill/>
          <a:ln/>
        </p:spPr>
        <p:txBody>
          <a:bodyPr wrap="square" lIns="0" tIns="0" rIns="0" bIns="0" rtlCol="0" anchor="ctr"/>
          <a:lstStyle/>
          <a:p>
            <a:pPr marL="0" indent="0">
              <a:buNone/>
            </a:pPr>
            <a:r>
              <a:rPr lang="en-US" dirty="0">
                <a:solidFill>
                  <a:srgbClr val="1B2A4A"/>
                </a:solidFill>
                <a:latin typeface="Calibri" pitchFamily="34" charset="0"/>
                <a:ea typeface="Calibri" pitchFamily="34" charset="-122"/>
                <a:cs typeface="Calibri" pitchFamily="34" charset="-120"/>
              </a:rPr>
              <a:t>Planned modifications to the product</a:t>
            </a:r>
            <a:endParaRPr lang="en-US" dirty="0"/>
          </a:p>
        </p:txBody>
      </p:sp>
      <p:sp>
        <p:nvSpPr>
          <p:cNvPr id="30" name="Text 24"/>
          <p:cNvSpPr/>
          <p:nvPr/>
        </p:nvSpPr>
        <p:spPr>
          <a:xfrm>
            <a:off x="11521440" y="6446520"/>
            <a:ext cx="548640" cy="274320"/>
          </a:xfrm>
          <a:prstGeom prst="rect">
            <a:avLst/>
          </a:prstGeom>
          <a:noFill/>
          <a:ln/>
        </p:spPr>
        <p:txBody>
          <a:bodyPr wrap="square" rtlCol="0" anchor="ctr"/>
          <a:lstStyle/>
          <a:p>
            <a:pPr marL="0" indent="0" algn="r">
              <a:buNone/>
            </a:pPr>
            <a:r>
              <a:rPr lang="en-US" sz="1000" dirty="0">
                <a:solidFill>
                  <a:srgbClr val="9AA7B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1371600" y="-1645920"/>
            <a:ext cx="4572000" cy="4572000"/>
          </a:xfrm>
          <a:prstGeom prst="ellipse">
            <a:avLst/>
          </a:prstGeom>
          <a:solidFill>
            <a:srgbClr val="028090">
              <a:alpha val="22000"/>
            </a:srgbClr>
          </a:solidFill>
          <a:ln/>
        </p:spPr>
      </p:sp>
      <p:sp>
        <p:nvSpPr>
          <p:cNvPr id="3" name="Text 1"/>
          <p:cNvSpPr/>
          <p:nvPr/>
        </p:nvSpPr>
        <p:spPr>
          <a:xfrm>
            <a:off x="548640" y="411480"/>
            <a:ext cx="10515600" cy="7315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Key Takeaways</a:t>
            </a:r>
            <a:endParaRPr lang="en-US" sz="3200" dirty="0"/>
          </a:p>
        </p:txBody>
      </p:sp>
      <p:sp>
        <p:nvSpPr>
          <p:cNvPr id="4" name="Shape 2"/>
          <p:cNvSpPr/>
          <p:nvPr/>
        </p:nvSpPr>
        <p:spPr>
          <a:xfrm>
            <a:off x="548640" y="1280160"/>
            <a:ext cx="365760" cy="365760"/>
          </a:xfrm>
          <a:prstGeom prst="ellipse">
            <a:avLst/>
          </a:prstGeom>
          <a:solidFill>
            <a:srgbClr val="243352"/>
          </a:solidFill>
          <a:ln/>
        </p:spPr>
      </p:sp>
      <p:pic>
        <p:nvPicPr>
          <p:cNvPr id="5" name="Image 0" descr="preencoded.png"/>
          <p:cNvPicPr>
            <a:picLocks noChangeAspect="1"/>
          </p:cNvPicPr>
          <p:nvPr/>
        </p:nvPicPr>
        <p:blipFill>
          <a:blip r:embed="rId3"/>
          <a:stretch>
            <a:fillRect/>
          </a:stretch>
        </p:blipFill>
        <p:spPr>
          <a:xfrm>
            <a:off x="636422" y="1367942"/>
            <a:ext cx="190195" cy="190195"/>
          </a:xfrm>
          <a:prstGeom prst="rect">
            <a:avLst/>
          </a:prstGeom>
        </p:spPr>
      </p:pic>
      <p:sp>
        <p:nvSpPr>
          <p:cNvPr id="6" name="Text 3"/>
          <p:cNvSpPr/>
          <p:nvPr/>
        </p:nvSpPr>
        <p:spPr>
          <a:xfrm>
            <a:off x="1097280" y="1225296"/>
            <a:ext cx="10058400" cy="457200"/>
          </a:xfrm>
          <a:prstGeom prst="rect">
            <a:avLst/>
          </a:prstGeom>
          <a:noFill/>
          <a:ln/>
        </p:spPr>
        <p:txBody>
          <a:bodyPr wrap="square" lIns="0" tIns="0" rIns="0" bIns="0" rtlCol="0" anchor="ctr"/>
          <a:lstStyle/>
          <a:p>
            <a:pPr marL="0" indent="0">
              <a:buNone/>
            </a:pPr>
            <a:r>
              <a:rPr lang="en-US" dirty="0">
                <a:solidFill>
                  <a:srgbClr val="FFFFFF"/>
                </a:solidFill>
                <a:latin typeface="Calibri" pitchFamily="34" charset="0"/>
                <a:ea typeface="Calibri" pitchFamily="34" charset="-122"/>
                <a:cs typeface="Calibri" pitchFamily="34" charset="-120"/>
              </a:rPr>
              <a:t>Customers provide insights that engineers cannot obtain in the laboratory.</a:t>
            </a:r>
            <a:endParaRPr lang="en-US" dirty="0"/>
          </a:p>
        </p:txBody>
      </p:sp>
      <p:sp>
        <p:nvSpPr>
          <p:cNvPr id="7" name="Shape 4"/>
          <p:cNvSpPr/>
          <p:nvPr/>
        </p:nvSpPr>
        <p:spPr>
          <a:xfrm>
            <a:off x="548640" y="1810512"/>
            <a:ext cx="365760" cy="365760"/>
          </a:xfrm>
          <a:prstGeom prst="ellipse">
            <a:avLst/>
          </a:prstGeom>
          <a:solidFill>
            <a:srgbClr val="243352"/>
          </a:solidFill>
          <a:ln/>
        </p:spPr>
      </p:sp>
      <p:pic>
        <p:nvPicPr>
          <p:cNvPr id="8" name="Image 1" descr="preencoded.png"/>
          <p:cNvPicPr>
            <a:picLocks noChangeAspect="1"/>
          </p:cNvPicPr>
          <p:nvPr/>
        </p:nvPicPr>
        <p:blipFill>
          <a:blip r:embed="rId3"/>
          <a:stretch>
            <a:fillRect/>
          </a:stretch>
        </p:blipFill>
        <p:spPr>
          <a:xfrm>
            <a:off x="636422" y="1898294"/>
            <a:ext cx="190195" cy="190195"/>
          </a:xfrm>
          <a:prstGeom prst="rect">
            <a:avLst/>
          </a:prstGeom>
        </p:spPr>
      </p:pic>
      <p:sp>
        <p:nvSpPr>
          <p:cNvPr id="9" name="Text 5"/>
          <p:cNvSpPr/>
          <p:nvPr/>
        </p:nvSpPr>
        <p:spPr>
          <a:xfrm>
            <a:off x="1097280" y="1755648"/>
            <a:ext cx="10058400" cy="457200"/>
          </a:xfrm>
          <a:prstGeom prst="rect">
            <a:avLst/>
          </a:prstGeom>
          <a:noFill/>
          <a:ln/>
        </p:spPr>
        <p:txBody>
          <a:bodyPr wrap="square" lIns="0" tIns="0" rIns="0" bIns="0" rtlCol="0" anchor="ctr"/>
          <a:lstStyle/>
          <a:p>
            <a:pPr marL="0" indent="0">
              <a:buNone/>
            </a:pPr>
            <a:r>
              <a:rPr lang="en-US" dirty="0">
                <a:solidFill>
                  <a:srgbClr val="FFFFFF"/>
                </a:solidFill>
                <a:latin typeface="Calibri" pitchFamily="34" charset="0"/>
                <a:ea typeface="Calibri" pitchFamily="34" charset="-122"/>
                <a:cs typeface="Calibri" pitchFamily="34" charset="-120"/>
              </a:rPr>
              <a:t>Every interaction is an opportunity to learn.</a:t>
            </a:r>
            <a:endParaRPr lang="en-US" dirty="0"/>
          </a:p>
        </p:txBody>
      </p:sp>
      <p:sp>
        <p:nvSpPr>
          <p:cNvPr id="10" name="Shape 6"/>
          <p:cNvSpPr/>
          <p:nvPr/>
        </p:nvSpPr>
        <p:spPr>
          <a:xfrm>
            <a:off x="548640" y="2340864"/>
            <a:ext cx="365760" cy="365760"/>
          </a:xfrm>
          <a:prstGeom prst="ellipse">
            <a:avLst/>
          </a:prstGeom>
          <a:solidFill>
            <a:srgbClr val="243352"/>
          </a:solidFill>
          <a:ln/>
        </p:spPr>
      </p:sp>
      <p:pic>
        <p:nvPicPr>
          <p:cNvPr id="11" name="Image 2" descr="preencoded.png"/>
          <p:cNvPicPr>
            <a:picLocks noChangeAspect="1"/>
          </p:cNvPicPr>
          <p:nvPr/>
        </p:nvPicPr>
        <p:blipFill>
          <a:blip r:embed="rId3"/>
          <a:stretch>
            <a:fillRect/>
          </a:stretch>
        </p:blipFill>
        <p:spPr>
          <a:xfrm>
            <a:off x="636422" y="2428646"/>
            <a:ext cx="190195" cy="190195"/>
          </a:xfrm>
          <a:prstGeom prst="rect">
            <a:avLst/>
          </a:prstGeom>
        </p:spPr>
      </p:pic>
      <p:sp>
        <p:nvSpPr>
          <p:cNvPr id="12" name="Text 7"/>
          <p:cNvSpPr/>
          <p:nvPr/>
        </p:nvSpPr>
        <p:spPr>
          <a:xfrm>
            <a:off x="1097280" y="2286000"/>
            <a:ext cx="10058400" cy="457200"/>
          </a:xfrm>
          <a:prstGeom prst="rect">
            <a:avLst/>
          </a:prstGeom>
          <a:noFill/>
          <a:ln/>
        </p:spPr>
        <p:txBody>
          <a:bodyPr wrap="square" lIns="0" tIns="0" rIns="0" bIns="0" rtlCol="0" anchor="ctr"/>
          <a:lstStyle/>
          <a:p>
            <a:pPr marL="0" indent="0">
              <a:buNone/>
            </a:pPr>
            <a:r>
              <a:rPr lang="en-US" dirty="0">
                <a:solidFill>
                  <a:srgbClr val="FFFFFF"/>
                </a:solidFill>
                <a:latin typeface="Calibri" pitchFamily="34" charset="0"/>
                <a:ea typeface="Calibri" pitchFamily="34" charset="-122"/>
                <a:cs typeface="Calibri" pitchFamily="34" charset="-120"/>
              </a:rPr>
              <a:t>Honest feedback is more valuable than praise.</a:t>
            </a:r>
            <a:endParaRPr lang="en-US" dirty="0"/>
          </a:p>
        </p:txBody>
      </p:sp>
      <p:sp>
        <p:nvSpPr>
          <p:cNvPr id="13" name="Shape 8"/>
          <p:cNvSpPr/>
          <p:nvPr/>
        </p:nvSpPr>
        <p:spPr>
          <a:xfrm>
            <a:off x="548640" y="2871216"/>
            <a:ext cx="365760" cy="365760"/>
          </a:xfrm>
          <a:prstGeom prst="ellipse">
            <a:avLst/>
          </a:prstGeom>
          <a:solidFill>
            <a:srgbClr val="243352"/>
          </a:solidFill>
          <a:ln/>
        </p:spPr>
      </p:sp>
      <p:pic>
        <p:nvPicPr>
          <p:cNvPr id="14" name="Image 3" descr="preencoded.png"/>
          <p:cNvPicPr>
            <a:picLocks noChangeAspect="1"/>
          </p:cNvPicPr>
          <p:nvPr/>
        </p:nvPicPr>
        <p:blipFill>
          <a:blip r:embed="rId3"/>
          <a:stretch>
            <a:fillRect/>
          </a:stretch>
        </p:blipFill>
        <p:spPr>
          <a:xfrm>
            <a:off x="636422" y="2958998"/>
            <a:ext cx="190195" cy="190195"/>
          </a:xfrm>
          <a:prstGeom prst="rect">
            <a:avLst/>
          </a:prstGeom>
        </p:spPr>
      </p:pic>
      <p:sp>
        <p:nvSpPr>
          <p:cNvPr id="15" name="Text 9"/>
          <p:cNvSpPr/>
          <p:nvPr/>
        </p:nvSpPr>
        <p:spPr>
          <a:xfrm>
            <a:off x="1097280" y="2816352"/>
            <a:ext cx="10058400" cy="457200"/>
          </a:xfrm>
          <a:prstGeom prst="rect">
            <a:avLst/>
          </a:prstGeom>
          <a:noFill/>
          <a:ln/>
        </p:spPr>
        <p:txBody>
          <a:bodyPr wrap="square" lIns="0" tIns="0" rIns="0" bIns="0" rtlCol="0" anchor="ctr"/>
          <a:lstStyle/>
          <a:p>
            <a:pPr marL="0" indent="0">
              <a:buNone/>
            </a:pPr>
            <a:r>
              <a:rPr lang="en-US" dirty="0">
                <a:solidFill>
                  <a:srgbClr val="FFFFFF"/>
                </a:solidFill>
                <a:latin typeface="Calibri" pitchFamily="34" charset="0"/>
                <a:ea typeface="Calibri" pitchFamily="34" charset="-122"/>
                <a:cs typeface="Calibri" pitchFamily="34" charset="-120"/>
              </a:rPr>
              <a:t>Engineering design should continuously evolve based on customer insights.</a:t>
            </a:r>
            <a:endParaRPr lang="en-US" dirty="0"/>
          </a:p>
        </p:txBody>
      </p:sp>
      <p:sp>
        <p:nvSpPr>
          <p:cNvPr id="16" name="Shape 10"/>
          <p:cNvSpPr/>
          <p:nvPr/>
        </p:nvSpPr>
        <p:spPr>
          <a:xfrm>
            <a:off x="548640" y="3401568"/>
            <a:ext cx="365760" cy="365760"/>
          </a:xfrm>
          <a:prstGeom prst="ellipse">
            <a:avLst/>
          </a:prstGeom>
          <a:solidFill>
            <a:srgbClr val="243352"/>
          </a:solidFill>
          <a:ln/>
        </p:spPr>
      </p:sp>
      <p:pic>
        <p:nvPicPr>
          <p:cNvPr id="17" name="Image 4" descr="preencoded.png"/>
          <p:cNvPicPr>
            <a:picLocks noChangeAspect="1"/>
          </p:cNvPicPr>
          <p:nvPr/>
        </p:nvPicPr>
        <p:blipFill>
          <a:blip r:embed="rId3"/>
          <a:stretch>
            <a:fillRect/>
          </a:stretch>
        </p:blipFill>
        <p:spPr>
          <a:xfrm>
            <a:off x="636422" y="3489350"/>
            <a:ext cx="190195" cy="190195"/>
          </a:xfrm>
          <a:prstGeom prst="rect">
            <a:avLst/>
          </a:prstGeom>
        </p:spPr>
      </p:pic>
      <p:sp>
        <p:nvSpPr>
          <p:cNvPr id="18" name="Text 11"/>
          <p:cNvSpPr/>
          <p:nvPr/>
        </p:nvSpPr>
        <p:spPr>
          <a:xfrm>
            <a:off x="1097280" y="3346704"/>
            <a:ext cx="10058400" cy="457200"/>
          </a:xfrm>
          <a:prstGeom prst="rect">
            <a:avLst/>
          </a:prstGeom>
          <a:noFill/>
          <a:ln/>
        </p:spPr>
        <p:txBody>
          <a:bodyPr wrap="square" lIns="0" tIns="0" rIns="0" bIns="0" rtlCol="0" anchor="ctr"/>
          <a:lstStyle/>
          <a:p>
            <a:pPr marL="0" indent="0">
              <a:buNone/>
            </a:pPr>
            <a:r>
              <a:rPr lang="en-US" dirty="0">
                <a:solidFill>
                  <a:srgbClr val="FFFFFF"/>
                </a:solidFill>
                <a:latin typeface="Calibri" pitchFamily="34" charset="0"/>
                <a:ea typeface="Calibri" pitchFamily="34" charset="-122"/>
                <a:cs typeface="Calibri" pitchFamily="34" charset="-120"/>
              </a:rPr>
              <a:t>Customer understanding is an essential part of successful product development.</a:t>
            </a:r>
            <a:endParaRPr lang="en-US" dirty="0"/>
          </a:p>
        </p:txBody>
      </p:sp>
      <p:sp>
        <p:nvSpPr>
          <p:cNvPr id="19" name="Shape 12"/>
          <p:cNvSpPr/>
          <p:nvPr/>
        </p:nvSpPr>
        <p:spPr>
          <a:xfrm>
            <a:off x="548640" y="4023360"/>
            <a:ext cx="10789920" cy="1417320"/>
          </a:xfrm>
          <a:prstGeom prst="roundRect">
            <a:avLst>
              <a:gd name="adj" fmla="val 6452"/>
            </a:avLst>
          </a:prstGeom>
          <a:solidFill>
            <a:srgbClr val="028090"/>
          </a:solidFill>
          <a:ln/>
          <a:effectLst>
            <a:outerShdw blurRad="101600" dist="38100" dir="2700000" algn="bl" rotWithShape="0">
              <a:srgbClr val="000000">
                <a:alpha val="12000"/>
              </a:srgbClr>
            </a:outerShdw>
          </a:effectLst>
        </p:spPr>
      </p:sp>
      <p:pic>
        <p:nvPicPr>
          <p:cNvPr id="20" name="Image 5" descr="preencoded.png"/>
          <p:cNvPicPr>
            <a:picLocks noChangeAspect="1"/>
          </p:cNvPicPr>
          <p:nvPr/>
        </p:nvPicPr>
        <p:blipFill>
          <a:blip r:embed="rId4"/>
          <a:stretch>
            <a:fillRect/>
          </a:stretch>
        </p:blipFill>
        <p:spPr>
          <a:xfrm>
            <a:off x="868680" y="4251960"/>
            <a:ext cx="457200" cy="457200"/>
          </a:xfrm>
          <a:prstGeom prst="rect">
            <a:avLst/>
          </a:prstGeom>
        </p:spPr>
      </p:pic>
      <p:sp>
        <p:nvSpPr>
          <p:cNvPr id="21" name="Text 13"/>
          <p:cNvSpPr/>
          <p:nvPr/>
        </p:nvSpPr>
        <p:spPr>
          <a:xfrm>
            <a:off x="1554480" y="4023360"/>
            <a:ext cx="9601200" cy="1417320"/>
          </a:xfrm>
          <a:prstGeom prst="rect">
            <a:avLst/>
          </a:prstGeom>
          <a:noFill/>
          <a:ln/>
        </p:spPr>
        <p:txBody>
          <a:bodyPr wrap="square" lIns="0" tIns="0" rIns="0" bIns="0" rtlCol="0" anchor="ctr"/>
          <a:lstStyle/>
          <a:p>
            <a:pPr marL="0" indent="0">
              <a:buNone/>
            </a:pPr>
            <a:r>
              <a:rPr lang="en-US" i="1" dirty="0">
                <a:solidFill>
                  <a:srgbClr val="FFFFFF"/>
                </a:solidFill>
                <a:latin typeface="Cambria" pitchFamily="34" charset="0"/>
                <a:ea typeface="Cambria" pitchFamily="34" charset="-122"/>
                <a:cs typeface="Cambria" pitchFamily="34" charset="-120"/>
              </a:rPr>
              <a:t>The objective of a Customer Insight Survey is not to prove that the product is perfect. It is to discover how it can become more useful, practical, and valuable to the people it is intended to serve.</a:t>
            </a:r>
            <a:endParaRPr lang="en-US" dirty="0"/>
          </a:p>
        </p:txBody>
      </p:sp>
      <p:sp>
        <p:nvSpPr>
          <p:cNvPr id="22" name="Text 14"/>
          <p:cNvSpPr/>
          <p:nvPr/>
        </p:nvSpPr>
        <p:spPr>
          <a:xfrm>
            <a:off x="11521440" y="6446520"/>
            <a:ext cx="548640" cy="274320"/>
          </a:xfrm>
          <a:prstGeom prst="rect">
            <a:avLst/>
          </a:prstGeom>
          <a:noFill/>
          <a:ln/>
        </p:spPr>
        <p:txBody>
          <a:bodyPr wrap="square" rtlCol="0" anchor="ctr"/>
          <a:lstStyle/>
          <a:p>
            <a:pPr marL="0" indent="0" algn="r">
              <a:buNone/>
            </a:pPr>
            <a:r>
              <a:rPr lang="en-US" sz="1000" dirty="0">
                <a:solidFill>
                  <a:srgbClr val="9AA7B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756</Words>
  <Application>Microsoft Office PowerPoint</Application>
  <PresentationFormat>Widescreen</PresentationFormat>
  <Paragraphs>136</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Insight Survey</dc:title>
  <dc:subject>PptxGenJS Presentation</dc:subject>
  <dc:creator>Customer Insight Survey</dc:creator>
  <cp:lastModifiedBy>Sanjeev Kavale</cp:lastModifiedBy>
  <cp:revision>2</cp:revision>
  <dcterms:created xsi:type="dcterms:W3CDTF">2026-06-30T11:57:07Z</dcterms:created>
  <dcterms:modified xsi:type="dcterms:W3CDTF">2026-06-30T12:09:26Z</dcterms:modified>
</cp:coreProperties>
</file>